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_rels/presentation.xml.rels" ContentType="application/vnd.openxmlformats-package.relationships+xml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14.png" ContentType="image/png"/>
  <Override PartName="/ppt/media/image5.svg" ContentType="image/svg"/>
  <Override PartName="/ppt/media/image8.png" ContentType="image/png"/>
  <Override PartName="/ppt/media/image17.png" ContentType="image/png"/>
  <Override PartName="/ppt/media/image12.png" ContentType="image/png"/>
  <Override PartName="/ppt/media/image3.png" ContentType="image/png"/>
  <Override PartName="/ppt/media/image1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16.png" ContentType="image/png"/>
  <Override PartName="/ppt/media/image7.png" ContentType="image/png"/>
  <Override PartName="/ppt/media/image1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44F9C94-0B98-499C-AA02-13111E063C8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541FE06-AD05-489B-8D5D-689B266AFD8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8CDC3B60-9BB4-4126-912A-A02E9758F20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F572D334-434A-4F17-91D3-50F030414C2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A58C440E-01EA-4FFE-9328-4A7695BD632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06376A74-49C3-4859-B82A-B2F8FB41A99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14897D94-93D3-4FAC-8ED0-923CDC4BBE7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DA3867E8-15B9-46E3-9C43-BC12F478BC4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26D3C5F5-39F9-4361-9E13-EAFB0492053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694B57B9-022E-41DE-AEA4-F77413803E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8400D511-2F8C-41A2-A783-B97768C8FB1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58CDDBF-BF3B-40AB-9564-E96A61FCD78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BC1EE14-3FC5-45DD-A35B-4776601F4DA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8C8B5BC-B43B-42B1-AACC-579243AF700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8A3328A-14A2-4BCC-8EA1-D65BBE97FEC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80DD821-7A0A-4048-89EE-BD65E716329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83C90B3-D391-4413-8F41-632BB94BFF4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0312E75-C1A4-441C-ABE7-6BEB72A315A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2E05865-0DA9-4B88-8E91-DD142A2A967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BBD61CA-188D-4693-900A-B8E8F0C71E5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ADC0871-F609-4B1B-880E-6B73DCF36F0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8BA5332-BA79-4B4B-8660-22E712CBF71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svg"/><Relationship Id="rId6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svg"/><Relationship Id="rId6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sv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9.png"/><Relationship Id="rId7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10.png"/><Relationship Id="rId7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11.png"/><Relationship Id="rId7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12.png"/><Relationship Id="rId7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15.png"/><Relationship Id="rId7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16.png"/><Relationship Id="rId7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17.png"/><Relationship Id="rId7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18.png"/><Relationship Id="rId7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88520" cy="228240"/>
          </a:xfrm>
          <a:prstGeom prst="rect">
            <a:avLst/>
          </a:prstGeom>
          <a:solidFill>
            <a:srgbClr val="004c99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6656760"/>
            <a:ext cx="12188520" cy="200880"/>
          </a:xfrm>
          <a:prstGeom prst="rect">
            <a:avLst/>
          </a:prstGeom>
          <a:solidFill>
            <a:srgbClr val="00285a"/>
          </a:solidFill>
          <a:ln>
            <a:solidFill>
              <a:srgbClr val="0028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0" y="228600"/>
            <a:ext cx="136800" cy="6400440"/>
          </a:xfrm>
          <a:prstGeom prst="rect">
            <a:avLst/>
          </a:prstGeom>
          <a:solidFill>
            <a:srgbClr val="228b22"/>
          </a:solidFill>
          <a:ln>
            <a:solidFill>
              <a:srgbClr val="228b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0" name="Picture 4" descr="logo_simposio_autalizado copy.png"/>
          <p:cNvPicPr/>
          <p:nvPr/>
        </p:nvPicPr>
        <p:blipFill>
          <a:blip r:embed="rId1"/>
          <a:stretch/>
        </p:blipFill>
        <p:spPr>
          <a:xfrm>
            <a:off x="8940600" y="255960"/>
            <a:ext cx="3179520" cy="2116080"/>
          </a:xfrm>
          <a:prstGeom prst="rect">
            <a:avLst/>
          </a:prstGeom>
          <a:ln w="0">
            <a:noFill/>
          </a:ln>
        </p:spPr>
      </p:pic>
      <p:sp>
        <p:nvSpPr>
          <p:cNvPr id="71" name="TextBox 5"/>
          <p:cNvSpPr/>
          <p:nvPr/>
        </p:nvSpPr>
        <p:spPr>
          <a:xfrm>
            <a:off x="707040" y="2450880"/>
            <a:ext cx="8233200" cy="158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3000" spc="-1" strike="noStrike">
                <a:solidFill>
                  <a:srgbClr val="00285a"/>
                </a:solidFill>
                <a:latin typeface="Arial"/>
              </a:rPr>
              <a:t>Implementação Categorial de Modelos de Regressão via Composição de Morfismos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644400" y="3763440"/>
            <a:ext cx="5339520" cy="70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pt-BR" sz="2000" spc="-1" strike="noStrike">
                <a:solidFill>
                  <a:srgbClr val="004c99"/>
                </a:solidFill>
                <a:latin typeface="Arial"/>
              </a:rPr>
              <a:t>Kauã Santana da Silva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pt-BR" sz="2000" spc="-1" strike="noStrike">
                <a:solidFill>
                  <a:srgbClr val="004c99"/>
                </a:solidFill>
                <a:latin typeface="Arial"/>
              </a:rPr>
              <a:t>Prof.º Dr. Alexandre Garcia de Oliveira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644400" y="5301720"/>
            <a:ext cx="5179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pt-BR" sz="1800" spc="-1" strike="noStrike">
                <a:solidFill>
                  <a:srgbClr val="228b22"/>
                </a:solidFill>
                <a:latin typeface="Arial"/>
              </a:rPr>
              <a:t>FATEC Baixada Santista Rubens Lara • Ciência de Dados • Santos/SP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677880" y="5951520"/>
            <a:ext cx="6929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pt-BR" sz="1800" spc="-1" strike="noStrike">
                <a:solidFill>
                  <a:srgbClr val="ff8c00"/>
                </a:solidFill>
                <a:latin typeface="Arial"/>
              </a:rPr>
              <a:t>I Simpósio de Ciência de Dados das Fatecs • Santos/SP • 2026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5" name="Picture 10" descr="LOGO-SP-PT-HORIZONTAL.png"/>
          <p:cNvPicPr/>
          <p:nvPr/>
        </p:nvPicPr>
        <p:blipFill>
          <a:blip r:embed="rId2"/>
          <a:stretch/>
        </p:blipFill>
        <p:spPr>
          <a:xfrm>
            <a:off x="68760" y="127440"/>
            <a:ext cx="3710160" cy="1518480"/>
          </a:xfrm>
          <a:prstGeom prst="rect">
            <a:avLst/>
          </a:prstGeom>
          <a:ln w="0">
            <a:noFill/>
          </a:ln>
        </p:spPr>
      </p:pic>
      <p:pic>
        <p:nvPicPr>
          <p:cNvPr id="76" name="Picture 11" descr="fatec_ra_baixada_santista_baixada_santista_rubens_lara_cor.png"/>
          <p:cNvPicPr/>
          <p:nvPr/>
        </p:nvPicPr>
        <p:blipFill>
          <a:blip r:embed="rId3"/>
          <a:stretch/>
        </p:blipFill>
        <p:spPr>
          <a:xfrm>
            <a:off x="5984640" y="487800"/>
            <a:ext cx="2277000" cy="1199520"/>
          </a:xfrm>
          <a:prstGeom prst="rect">
            <a:avLst/>
          </a:prstGeom>
          <a:ln w="0">
            <a:noFill/>
          </a:ln>
        </p:spPr>
      </p:pic>
      <p:pic>
        <p:nvPicPr>
          <p:cNvPr id="77" name="Graphic 13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3847680" y="378360"/>
            <a:ext cx="1512720" cy="997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1"/>
          <p:cNvSpPr/>
          <p:nvPr/>
        </p:nvSpPr>
        <p:spPr>
          <a:xfrm>
            <a:off x="0" y="0"/>
            <a:ext cx="12188520" cy="228240"/>
          </a:xfrm>
          <a:prstGeom prst="rect">
            <a:avLst/>
          </a:prstGeom>
          <a:solidFill>
            <a:srgbClr val="004c99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" name="Rectangle 2"/>
          <p:cNvSpPr/>
          <p:nvPr/>
        </p:nvSpPr>
        <p:spPr>
          <a:xfrm>
            <a:off x="0" y="6656760"/>
            <a:ext cx="12188520" cy="200880"/>
          </a:xfrm>
          <a:prstGeom prst="rect">
            <a:avLst/>
          </a:prstGeom>
          <a:solidFill>
            <a:srgbClr val="00285a"/>
          </a:solidFill>
          <a:ln>
            <a:solidFill>
              <a:srgbClr val="0028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Rectangle 3"/>
          <p:cNvSpPr/>
          <p:nvPr/>
        </p:nvSpPr>
        <p:spPr>
          <a:xfrm>
            <a:off x="0" y="228600"/>
            <a:ext cx="136800" cy="6400440"/>
          </a:xfrm>
          <a:prstGeom prst="rect">
            <a:avLst/>
          </a:prstGeom>
          <a:solidFill>
            <a:srgbClr val="228b22"/>
          </a:solidFill>
          <a:ln>
            <a:solidFill>
              <a:srgbClr val="228b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TextBox 4"/>
          <p:cNvSpPr/>
          <p:nvPr/>
        </p:nvSpPr>
        <p:spPr>
          <a:xfrm>
            <a:off x="895680" y="457200"/>
            <a:ext cx="15998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00285a"/>
                </a:solidFill>
                <a:latin typeface="Arial"/>
              </a:rPr>
              <a:t>Sumário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Box 7"/>
          <p:cNvSpPr/>
          <p:nvPr/>
        </p:nvSpPr>
        <p:spPr>
          <a:xfrm>
            <a:off x="1038600" y="864000"/>
            <a:ext cx="7061400" cy="56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200000"/>
              </a:lnSpc>
            </a:pPr>
            <a:r>
              <a:rPr b="0" lang="en-US" sz="2600" spc="-1" strike="noStrike">
                <a:solidFill>
                  <a:srgbClr val="00285a"/>
                </a:solidFill>
                <a:latin typeface="Arial"/>
              </a:rPr>
              <a:t>1. Motivação</a:t>
            </a:r>
            <a:br>
              <a:rPr sz="2600"/>
            </a:b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2600" spc="-1" strike="noStrike">
                <a:solidFill>
                  <a:srgbClr val="00285a"/>
                </a:solidFill>
                <a:latin typeface="Arial"/>
                <a:ea typeface="Noto Sans CJK SC"/>
              </a:rPr>
              <a:t>2. </a:t>
            </a:r>
            <a:r>
              <a:rPr b="0" lang="en-US" sz="2800" spc="-1" strike="noStrike">
                <a:solidFill>
                  <a:srgbClr val="00285a"/>
                </a:solidFill>
                <a:latin typeface="Arial"/>
              </a:rPr>
              <a:t>Categoria Learn, morfismos e composição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2800" spc="-1" strike="noStrike">
                <a:solidFill>
                  <a:srgbClr val="00285a"/>
                </a:solidFill>
                <a:latin typeface="Arial"/>
                <a:ea typeface="Noto Sans CJK SC"/>
              </a:rPr>
              <a:t>3. O funtor </a:t>
            </a:r>
            <a:r>
              <a:rPr b="0" lang="en-US" sz="2800" spc="-1" strike="noStrike">
                <a:solidFill>
                  <a:srgbClr val="00285a"/>
                </a:solidFill>
                <a:latin typeface="MathJax_Caligraphic"/>
                <a:ea typeface="MathJax_Caligraphic"/>
              </a:rPr>
              <a:t>L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200000"/>
              </a:lnSpc>
            </a:pPr>
            <a:r>
              <a:rPr b="0" lang="en-US" sz="2600" spc="-1" strike="noStrike">
                <a:solidFill>
                  <a:srgbClr val="00285a"/>
                </a:solidFill>
                <a:latin typeface="Arial"/>
              </a:rPr>
              <a:t>3. Implementação em Haskell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200000"/>
              </a:lnSpc>
            </a:pPr>
            <a:r>
              <a:rPr b="0" lang="en-US" sz="2600" spc="-1" strike="noStrike">
                <a:solidFill>
                  <a:srgbClr val="00285a"/>
                </a:solidFill>
                <a:latin typeface="Arial"/>
              </a:rPr>
              <a:t>4. Modelos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200000"/>
              </a:lnSpc>
            </a:pPr>
            <a:r>
              <a:rPr b="0" lang="en-US" sz="2600" spc="-1" strike="noStrike">
                <a:solidFill>
                  <a:srgbClr val="00285a"/>
                </a:solidFill>
                <a:latin typeface="Arial"/>
              </a:rPr>
              <a:t>5. Conclusões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3" name="Picture 10" descr="logo_simposio_autalizado copy.png"/>
          <p:cNvPicPr/>
          <p:nvPr/>
        </p:nvPicPr>
        <p:blipFill>
          <a:blip r:embed="rId1"/>
          <a:stretch/>
        </p:blipFill>
        <p:spPr>
          <a:xfrm>
            <a:off x="8349480" y="376200"/>
            <a:ext cx="3839040" cy="2554920"/>
          </a:xfrm>
          <a:prstGeom prst="rect">
            <a:avLst/>
          </a:prstGeom>
          <a:ln w="0">
            <a:noFill/>
          </a:ln>
        </p:spPr>
      </p:pic>
      <p:pic>
        <p:nvPicPr>
          <p:cNvPr id="84" name="Picture 11" descr="fatec_ra_baixada_santista_baixada_santista_rubens_lara_cor.png"/>
          <p:cNvPicPr/>
          <p:nvPr/>
        </p:nvPicPr>
        <p:blipFill>
          <a:blip r:embed="rId2"/>
          <a:stretch/>
        </p:blipFill>
        <p:spPr>
          <a:xfrm>
            <a:off x="9533160" y="3079080"/>
            <a:ext cx="2514240" cy="1324440"/>
          </a:xfrm>
          <a:prstGeom prst="rect">
            <a:avLst/>
          </a:prstGeom>
          <a:ln w="0">
            <a:noFill/>
          </a:ln>
        </p:spPr>
      </p:pic>
      <p:pic>
        <p:nvPicPr>
          <p:cNvPr id="85" name="Picture 12" descr="LOGO-SP-PT-HORIZONTAL.png"/>
          <p:cNvPicPr/>
          <p:nvPr/>
        </p:nvPicPr>
        <p:blipFill>
          <a:blip r:embed="rId3"/>
          <a:stretch/>
        </p:blipFill>
        <p:spPr>
          <a:xfrm>
            <a:off x="8718120" y="5294520"/>
            <a:ext cx="3710160" cy="1518480"/>
          </a:xfrm>
          <a:prstGeom prst="rect">
            <a:avLst/>
          </a:prstGeom>
          <a:ln w="0">
            <a:noFill/>
          </a:ln>
        </p:spPr>
      </p:pic>
      <p:pic>
        <p:nvPicPr>
          <p:cNvPr id="86" name="Graphic 13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223280" y="4479120"/>
            <a:ext cx="1668240" cy="1099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1"/>
          <p:cNvSpPr/>
          <p:nvPr/>
        </p:nvSpPr>
        <p:spPr>
          <a:xfrm>
            <a:off x="0" y="0"/>
            <a:ext cx="12188520" cy="228240"/>
          </a:xfrm>
          <a:prstGeom prst="rect">
            <a:avLst/>
          </a:prstGeom>
          <a:solidFill>
            <a:srgbClr val="004c99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Rectangle 2"/>
          <p:cNvSpPr/>
          <p:nvPr/>
        </p:nvSpPr>
        <p:spPr>
          <a:xfrm>
            <a:off x="0" y="6656760"/>
            <a:ext cx="12188520" cy="200880"/>
          </a:xfrm>
          <a:prstGeom prst="rect">
            <a:avLst/>
          </a:prstGeom>
          <a:solidFill>
            <a:srgbClr val="00285a"/>
          </a:solidFill>
          <a:ln>
            <a:solidFill>
              <a:srgbClr val="0028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Rectangle 3"/>
          <p:cNvSpPr/>
          <p:nvPr/>
        </p:nvSpPr>
        <p:spPr>
          <a:xfrm>
            <a:off x="0" y="228600"/>
            <a:ext cx="136800" cy="6400440"/>
          </a:xfrm>
          <a:prstGeom prst="rect">
            <a:avLst/>
          </a:prstGeom>
          <a:solidFill>
            <a:srgbClr val="228b22"/>
          </a:solidFill>
          <a:ln>
            <a:solidFill>
              <a:srgbClr val="228b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Rounded Rectangle 6"/>
          <p:cNvSpPr/>
          <p:nvPr/>
        </p:nvSpPr>
        <p:spPr>
          <a:xfrm>
            <a:off x="640080" y="1280160"/>
            <a:ext cx="9028080" cy="4730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" name="TextBox 7"/>
          <p:cNvSpPr/>
          <p:nvPr/>
        </p:nvSpPr>
        <p:spPr>
          <a:xfrm>
            <a:off x="914400" y="1645920"/>
            <a:ext cx="7959240" cy="20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457200">
              <a:lnSpc>
                <a:spcPct val="150000"/>
              </a:lnSpc>
              <a:buClr>
                <a:srgbClr val="282828"/>
              </a:buClr>
              <a:buFont typeface="Arial"/>
              <a:buChar char="•"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2" name="Picture 12" descr="logo_simposio_autalizado copy.png"/>
          <p:cNvPicPr/>
          <p:nvPr/>
        </p:nvPicPr>
        <p:blipFill>
          <a:blip r:embed="rId1"/>
          <a:stretch/>
        </p:blipFill>
        <p:spPr>
          <a:xfrm>
            <a:off x="10013760" y="330480"/>
            <a:ext cx="2136960" cy="1422000"/>
          </a:xfrm>
          <a:prstGeom prst="rect">
            <a:avLst/>
          </a:prstGeom>
          <a:ln w="0">
            <a:noFill/>
          </a:ln>
        </p:spPr>
      </p:pic>
      <p:pic>
        <p:nvPicPr>
          <p:cNvPr id="93" name="Picture 14" descr="LOGO-SP-PT-HORIZONTAL.png"/>
          <p:cNvPicPr/>
          <p:nvPr/>
        </p:nvPicPr>
        <p:blipFill>
          <a:blip r:embed="rId2"/>
          <a:stretch/>
        </p:blipFill>
        <p:spPr>
          <a:xfrm>
            <a:off x="9668520" y="5452200"/>
            <a:ext cx="2626920" cy="1074960"/>
          </a:xfrm>
          <a:prstGeom prst="rect">
            <a:avLst/>
          </a:prstGeom>
          <a:ln w="0">
            <a:noFill/>
          </a:ln>
        </p:spPr>
      </p:pic>
      <p:pic>
        <p:nvPicPr>
          <p:cNvPr id="94" name="Picture 15" descr="fatec_ra_baixada_santista_baixada_santista_rubens_lara_cor.png"/>
          <p:cNvPicPr/>
          <p:nvPr/>
        </p:nvPicPr>
        <p:blipFill>
          <a:blip r:embed="rId3"/>
          <a:stretch/>
        </p:blipFill>
        <p:spPr>
          <a:xfrm>
            <a:off x="10118880" y="2329560"/>
            <a:ext cx="2031480" cy="1070280"/>
          </a:xfrm>
          <a:prstGeom prst="rect">
            <a:avLst/>
          </a:prstGeom>
          <a:ln w="0">
            <a:noFill/>
          </a:ln>
        </p:spPr>
      </p:pic>
      <p:pic>
        <p:nvPicPr>
          <p:cNvPr id="95" name="Graphic 16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577160" y="3787560"/>
            <a:ext cx="1394280" cy="1043640"/>
          </a:xfrm>
          <a:prstGeom prst="rect">
            <a:avLst/>
          </a:prstGeom>
          <a:ln w="0">
            <a:noFill/>
          </a:ln>
        </p:spPr>
      </p:pic>
      <p:pic>
        <p:nvPicPr>
          <p:cNvPr id="96" name="" descr=""/>
          <p:cNvPicPr/>
          <p:nvPr/>
        </p:nvPicPr>
        <p:blipFill>
          <a:blip r:embed="rId6"/>
          <a:stretch/>
        </p:blipFill>
        <p:spPr>
          <a:xfrm>
            <a:off x="900000" y="2160000"/>
            <a:ext cx="8565480" cy="3144960"/>
          </a:xfrm>
          <a:prstGeom prst="rect">
            <a:avLst/>
          </a:prstGeom>
          <a:ln w="0">
            <a:noFill/>
          </a:ln>
        </p:spPr>
      </p:pic>
      <p:sp>
        <p:nvSpPr>
          <p:cNvPr id="97" name="TextBox 13"/>
          <p:cNvSpPr/>
          <p:nvPr/>
        </p:nvSpPr>
        <p:spPr>
          <a:xfrm>
            <a:off x="3251520" y="457200"/>
            <a:ext cx="191556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2800" spc="-1" strike="noStrike">
                <a:solidFill>
                  <a:srgbClr val="00285a"/>
                </a:solidFill>
                <a:latin typeface="Arial"/>
              </a:rPr>
              <a:t>Motivação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1"/>
          <p:cNvSpPr/>
          <p:nvPr/>
        </p:nvSpPr>
        <p:spPr>
          <a:xfrm>
            <a:off x="0" y="0"/>
            <a:ext cx="12188520" cy="228240"/>
          </a:xfrm>
          <a:prstGeom prst="rect">
            <a:avLst/>
          </a:prstGeom>
          <a:solidFill>
            <a:srgbClr val="004c99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Rectangle 2"/>
          <p:cNvSpPr/>
          <p:nvPr/>
        </p:nvSpPr>
        <p:spPr>
          <a:xfrm>
            <a:off x="0" y="6656760"/>
            <a:ext cx="12188520" cy="200880"/>
          </a:xfrm>
          <a:prstGeom prst="rect">
            <a:avLst/>
          </a:prstGeom>
          <a:solidFill>
            <a:srgbClr val="00285a"/>
          </a:solidFill>
          <a:ln>
            <a:solidFill>
              <a:srgbClr val="0028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" name="Rectangle 3"/>
          <p:cNvSpPr/>
          <p:nvPr/>
        </p:nvSpPr>
        <p:spPr>
          <a:xfrm>
            <a:off x="0" y="228600"/>
            <a:ext cx="136800" cy="6400440"/>
          </a:xfrm>
          <a:prstGeom prst="rect">
            <a:avLst/>
          </a:prstGeom>
          <a:solidFill>
            <a:srgbClr val="228b22"/>
          </a:solidFill>
          <a:ln>
            <a:solidFill>
              <a:srgbClr val="228b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TextBox 4"/>
          <p:cNvSpPr/>
          <p:nvPr/>
        </p:nvSpPr>
        <p:spPr>
          <a:xfrm>
            <a:off x="917640" y="720000"/>
            <a:ext cx="73623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00285a"/>
                </a:solidFill>
                <a:latin typeface="Arial"/>
              </a:rPr>
              <a:t>Categoria Learn, morfismos e composição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Rounded Rectangle 6"/>
          <p:cNvSpPr/>
          <p:nvPr/>
        </p:nvSpPr>
        <p:spPr>
          <a:xfrm>
            <a:off x="548640" y="1411560"/>
            <a:ext cx="9119520" cy="4480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3" name="Picture 13" descr="logo_simposio_autalizado copy.png"/>
          <p:cNvPicPr/>
          <p:nvPr/>
        </p:nvPicPr>
        <p:blipFill>
          <a:blip r:embed="rId1"/>
          <a:stretch/>
        </p:blipFill>
        <p:spPr>
          <a:xfrm>
            <a:off x="10013760" y="330480"/>
            <a:ext cx="2136960" cy="1422000"/>
          </a:xfrm>
          <a:prstGeom prst="rect">
            <a:avLst/>
          </a:prstGeom>
          <a:ln w="0">
            <a:noFill/>
          </a:ln>
        </p:spPr>
      </p:pic>
      <p:pic>
        <p:nvPicPr>
          <p:cNvPr id="104" name="Picture 14" descr="fatec_ra_baixada_santista_baixada_santista_rubens_lara_cor.png"/>
          <p:cNvPicPr/>
          <p:nvPr/>
        </p:nvPicPr>
        <p:blipFill>
          <a:blip r:embed="rId2"/>
          <a:stretch/>
        </p:blipFill>
        <p:spPr>
          <a:xfrm>
            <a:off x="10118880" y="2329560"/>
            <a:ext cx="2031480" cy="1070280"/>
          </a:xfrm>
          <a:prstGeom prst="rect">
            <a:avLst/>
          </a:prstGeom>
          <a:ln w="0">
            <a:noFill/>
          </a:ln>
        </p:spPr>
      </p:pic>
      <p:pic>
        <p:nvPicPr>
          <p:cNvPr id="105" name="Graphic 15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577160" y="3787560"/>
            <a:ext cx="1394280" cy="1043640"/>
          </a:xfrm>
          <a:prstGeom prst="rect">
            <a:avLst/>
          </a:prstGeom>
          <a:ln w="0">
            <a:noFill/>
          </a:ln>
        </p:spPr>
      </p:pic>
      <p:pic>
        <p:nvPicPr>
          <p:cNvPr id="106" name="Picture 16" descr="LOGO-SP-PT-HORIZONTAL.png"/>
          <p:cNvPicPr/>
          <p:nvPr/>
        </p:nvPicPr>
        <p:blipFill>
          <a:blip r:embed="rId5"/>
          <a:stretch/>
        </p:blipFill>
        <p:spPr>
          <a:xfrm>
            <a:off x="9668520" y="5452200"/>
            <a:ext cx="2626920" cy="1074960"/>
          </a:xfrm>
          <a:prstGeom prst="rect">
            <a:avLst/>
          </a:prstGeom>
          <a:ln w="0">
            <a:noFill/>
          </a:ln>
        </p:spPr>
      </p:pic>
      <p:pic>
        <p:nvPicPr>
          <p:cNvPr id="107" name="" descr=""/>
          <p:cNvPicPr/>
          <p:nvPr/>
        </p:nvPicPr>
        <p:blipFill>
          <a:blip r:embed="rId6"/>
          <a:stretch/>
        </p:blipFill>
        <p:spPr>
          <a:xfrm>
            <a:off x="1032480" y="1620000"/>
            <a:ext cx="8079120" cy="396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7"/>
          <p:cNvSpPr/>
          <p:nvPr/>
        </p:nvSpPr>
        <p:spPr>
          <a:xfrm>
            <a:off x="0" y="0"/>
            <a:ext cx="12188520" cy="228240"/>
          </a:xfrm>
          <a:prstGeom prst="rect">
            <a:avLst/>
          </a:prstGeom>
          <a:solidFill>
            <a:srgbClr val="004c99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" name="Rectangle 8"/>
          <p:cNvSpPr/>
          <p:nvPr/>
        </p:nvSpPr>
        <p:spPr>
          <a:xfrm>
            <a:off x="0" y="6656760"/>
            <a:ext cx="12188520" cy="200880"/>
          </a:xfrm>
          <a:prstGeom prst="rect">
            <a:avLst/>
          </a:prstGeom>
          <a:solidFill>
            <a:srgbClr val="00285a"/>
          </a:solidFill>
          <a:ln>
            <a:solidFill>
              <a:srgbClr val="0028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Rectangle 9"/>
          <p:cNvSpPr/>
          <p:nvPr/>
        </p:nvSpPr>
        <p:spPr>
          <a:xfrm>
            <a:off x="0" y="228600"/>
            <a:ext cx="136800" cy="6400440"/>
          </a:xfrm>
          <a:prstGeom prst="rect">
            <a:avLst/>
          </a:prstGeom>
          <a:solidFill>
            <a:srgbClr val="228b22"/>
          </a:solidFill>
          <a:ln>
            <a:solidFill>
              <a:srgbClr val="228b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TextBox 2"/>
          <p:cNvSpPr/>
          <p:nvPr/>
        </p:nvSpPr>
        <p:spPr>
          <a:xfrm>
            <a:off x="3230280" y="457200"/>
            <a:ext cx="195660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2800" spc="-1" strike="noStrike">
                <a:solidFill>
                  <a:srgbClr val="00285a"/>
                </a:solidFill>
                <a:latin typeface="Arial"/>
              </a:rPr>
              <a:t>O funtor </a:t>
            </a:r>
            <a:r>
              <a:rPr b="1" lang="en-US" sz="2800" spc="-1" strike="noStrike">
                <a:solidFill>
                  <a:srgbClr val="00285a"/>
                </a:solidFill>
                <a:latin typeface="MathJax_Caligraphic"/>
                <a:ea typeface="MathJax_Caligraphic"/>
              </a:rPr>
              <a:t>L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2"/>
          <p:cNvSpPr/>
          <p:nvPr/>
        </p:nvSpPr>
        <p:spPr>
          <a:xfrm>
            <a:off x="548640" y="1280160"/>
            <a:ext cx="9344520" cy="4958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3" name="Picture 6" descr="logo_simposio_autalizado copy.png"/>
          <p:cNvPicPr/>
          <p:nvPr/>
        </p:nvPicPr>
        <p:blipFill>
          <a:blip r:embed="rId1"/>
          <a:stretch/>
        </p:blipFill>
        <p:spPr>
          <a:xfrm>
            <a:off x="10013760" y="330480"/>
            <a:ext cx="2136960" cy="1422000"/>
          </a:xfrm>
          <a:prstGeom prst="rect">
            <a:avLst/>
          </a:prstGeom>
          <a:ln w="0">
            <a:noFill/>
          </a:ln>
        </p:spPr>
      </p:pic>
      <p:pic>
        <p:nvPicPr>
          <p:cNvPr id="114" name="Picture 7" descr="fatec_ra_baixada_santista_baixada_santista_rubens_lara_cor.png"/>
          <p:cNvPicPr/>
          <p:nvPr/>
        </p:nvPicPr>
        <p:blipFill>
          <a:blip r:embed="rId2"/>
          <a:stretch/>
        </p:blipFill>
        <p:spPr>
          <a:xfrm>
            <a:off x="10118880" y="2329560"/>
            <a:ext cx="2031480" cy="1070280"/>
          </a:xfrm>
          <a:prstGeom prst="rect">
            <a:avLst/>
          </a:prstGeom>
          <a:ln w="0">
            <a:noFill/>
          </a:ln>
        </p:spPr>
      </p:pic>
      <p:pic>
        <p:nvPicPr>
          <p:cNvPr id="115" name="Graphic 2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577160" y="3787560"/>
            <a:ext cx="1394280" cy="1043640"/>
          </a:xfrm>
          <a:prstGeom prst="rect">
            <a:avLst/>
          </a:prstGeom>
          <a:ln w="0">
            <a:noFill/>
          </a:ln>
        </p:spPr>
      </p:pic>
      <p:pic>
        <p:nvPicPr>
          <p:cNvPr id="116" name="Picture 8" descr="LOGO-SP-PT-HORIZONTAL.png"/>
          <p:cNvPicPr/>
          <p:nvPr/>
        </p:nvPicPr>
        <p:blipFill>
          <a:blip r:embed="rId5"/>
          <a:stretch/>
        </p:blipFill>
        <p:spPr>
          <a:xfrm>
            <a:off x="9668520" y="5452200"/>
            <a:ext cx="2626920" cy="1074960"/>
          </a:xfrm>
          <a:prstGeom prst="rect">
            <a:avLst/>
          </a:prstGeom>
          <a:ln w="0">
            <a:noFill/>
          </a:ln>
        </p:spPr>
      </p:pic>
      <p:pic>
        <p:nvPicPr>
          <p:cNvPr id="117" name="" descr=""/>
          <p:cNvPicPr/>
          <p:nvPr/>
        </p:nvPicPr>
        <p:blipFill>
          <a:blip r:embed="rId6"/>
          <a:stretch/>
        </p:blipFill>
        <p:spPr>
          <a:xfrm>
            <a:off x="848520" y="1800000"/>
            <a:ext cx="8820000" cy="4081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10"/>
          <p:cNvSpPr/>
          <p:nvPr/>
        </p:nvSpPr>
        <p:spPr>
          <a:xfrm>
            <a:off x="0" y="0"/>
            <a:ext cx="12188520" cy="228240"/>
          </a:xfrm>
          <a:prstGeom prst="rect">
            <a:avLst/>
          </a:prstGeom>
          <a:solidFill>
            <a:srgbClr val="004c99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Rectangle 11"/>
          <p:cNvSpPr/>
          <p:nvPr/>
        </p:nvSpPr>
        <p:spPr>
          <a:xfrm>
            <a:off x="0" y="6656760"/>
            <a:ext cx="12188520" cy="200880"/>
          </a:xfrm>
          <a:prstGeom prst="rect">
            <a:avLst/>
          </a:prstGeom>
          <a:solidFill>
            <a:srgbClr val="00285a"/>
          </a:solidFill>
          <a:ln>
            <a:solidFill>
              <a:srgbClr val="0028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Rectangle 12"/>
          <p:cNvSpPr/>
          <p:nvPr/>
        </p:nvSpPr>
        <p:spPr>
          <a:xfrm>
            <a:off x="0" y="228600"/>
            <a:ext cx="136800" cy="6400440"/>
          </a:xfrm>
          <a:prstGeom prst="rect">
            <a:avLst/>
          </a:prstGeom>
          <a:solidFill>
            <a:srgbClr val="228b22"/>
          </a:solidFill>
          <a:ln>
            <a:solidFill>
              <a:srgbClr val="228b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" name="TextBox 3"/>
          <p:cNvSpPr/>
          <p:nvPr/>
        </p:nvSpPr>
        <p:spPr>
          <a:xfrm>
            <a:off x="1850760" y="457200"/>
            <a:ext cx="471816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2800" spc="-1" strike="noStrike">
                <a:solidFill>
                  <a:srgbClr val="00285a"/>
                </a:solidFill>
                <a:latin typeface="Arial"/>
              </a:rPr>
              <a:t>Implementação em Haskell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Rounded Rectangle 3"/>
          <p:cNvSpPr/>
          <p:nvPr/>
        </p:nvSpPr>
        <p:spPr>
          <a:xfrm>
            <a:off x="548640" y="1280160"/>
            <a:ext cx="9344520" cy="4958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3" name="Picture 9" descr="logo_simposio_autalizado copy.png"/>
          <p:cNvPicPr/>
          <p:nvPr/>
        </p:nvPicPr>
        <p:blipFill>
          <a:blip r:embed="rId1"/>
          <a:stretch/>
        </p:blipFill>
        <p:spPr>
          <a:xfrm>
            <a:off x="10013760" y="330480"/>
            <a:ext cx="2136960" cy="1422000"/>
          </a:xfrm>
          <a:prstGeom prst="rect">
            <a:avLst/>
          </a:prstGeom>
          <a:ln w="0">
            <a:noFill/>
          </a:ln>
        </p:spPr>
      </p:pic>
      <p:pic>
        <p:nvPicPr>
          <p:cNvPr id="124" name="Picture 18" descr="fatec_ra_baixada_santista_baixada_santista_rubens_lara_cor.png"/>
          <p:cNvPicPr/>
          <p:nvPr/>
        </p:nvPicPr>
        <p:blipFill>
          <a:blip r:embed="rId2"/>
          <a:stretch/>
        </p:blipFill>
        <p:spPr>
          <a:xfrm>
            <a:off x="10118880" y="2329560"/>
            <a:ext cx="2031480" cy="1070280"/>
          </a:xfrm>
          <a:prstGeom prst="rect">
            <a:avLst/>
          </a:prstGeom>
          <a:ln w="0">
            <a:noFill/>
          </a:ln>
        </p:spPr>
      </p:pic>
      <p:pic>
        <p:nvPicPr>
          <p:cNvPr id="125" name="Graphic 3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577160" y="3787560"/>
            <a:ext cx="1394280" cy="1043640"/>
          </a:xfrm>
          <a:prstGeom prst="rect">
            <a:avLst/>
          </a:prstGeom>
          <a:ln w="0">
            <a:noFill/>
          </a:ln>
        </p:spPr>
      </p:pic>
      <p:pic>
        <p:nvPicPr>
          <p:cNvPr id="126" name="Picture 19" descr="LOGO-SP-PT-HORIZONTAL.png"/>
          <p:cNvPicPr/>
          <p:nvPr/>
        </p:nvPicPr>
        <p:blipFill>
          <a:blip r:embed="rId5"/>
          <a:stretch/>
        </p:blipFill>
        <p:spPr>
          <a:xfrm>
            <a:off x="9668520" y="5452200"/>
            <a:ext cx="2626920" cy="1074960"/>
          </a:xfrm>
          <a:prstGeom prst="rect">
            <a:avLst/>
          </a:prstGeom>
          <a:ln w="0">
            <a:noFill/>
          </a:ln>
        </p:spPr>
      </p:pic>
      <p:pic>
        <p:nvPicPr>
          <p:cNvPr id="127" name="" descr=""/>
          <p:cNvPicPr/>
          <p:nvPr/>
        </p:nvPicPr>
        <p:blipFill>
          <a:blip r:embed="rId6"/>
          <a:stretch/>
        </p:blipFill>
        <p:spPr>
          <a:xfrm>
            <a:off x="676080" y="1836000"/>
            <a:ext cx="9043920" cy="3913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4"/>
          <p:cNvSpPr/>
          <p:nvPr/>
        </p:nvSpPr>
        <p:spPr>
          <a:xfrm>
            <a:off x="0" y="0"/>
            <a:ext cx="12188520" cy="228240"/>
          </a:xfrm>
          <a:prstGeom prst="rect">
            <a:avLst/>
          </a:prstGeom>
          <a:solidFill>
            <a:srgbClr val="004c99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Rectangle 5"/>
          <p:cNvSpPr/>
          <p:nvPr/>
        </p:nvSpPr>
        <p:spPr>
          <a:xfrm>
            <a:off x="0" y="6656760"/>
            <a:ext cx="12188520" cy="200880"/>
          </a:xfrm>
          <a:prstGeom prst="rect">
            <a:avLst/>
          </a:prstGeom>
          <a:solidFill>
            <a:srgbClr val="00285a"/>
          </a:solidFill>
          <a:ln>
            <a:solidFill>
              <a:srgbClr val="0028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Rectangle 6"/>
          <p:cNvSpPr/>
          <p:nvPr/>
        </p:nvSpPr>
        <p:spPr>
          <a:xfrm>
            <a:off x="0" y="228600"/>
            <a:ext cx="136800" cy="6400440"/>
          </a:xfrm>
          <a:prstGeom prst="rect">
            <a:avLst/>
          </a:prstGeom>
          <a:solidFill>
            <a:srgbClr val="228b22"/>
          </a:solidFill>
          <a:ln>
            <a:solidFill>
              <a:srgbClr val="228b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" name="TextBox 1"/>
          <p:cNvSpPr/>
          <p:nvPr/>
        </p:nvSpPr>
        <p:spPr>
          <a:xfrm>
            <a:off x="1850760" y="457200"/>
            <a:ext cx="471816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2800" spc="-1" strike="noStrike">
                <a:solidFill>
                  <a:srgbClr val="00285a"/>
                </a:solidFill>
                <a:latin typeface="Arial"/>
              </a:rPr>
              <a:t>Implementação em Haskell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Rounded Rectangle 1"/>
          <p:cNvSpPr/>
          <p:nvPr/>
        </p:nvSpPr>
        <p:spPr>
          <a:xfrm>
            <a:off x="548640" y="1280160"/>
            <a:ext cx="9344520" cy="4958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3" name="Picture 1" descr="logo_simposio_autalizado copy.png"/>
          <p:cNvPicPr/>
          <p:nvPr/>
        </p:nvPicPr>
        <p:blipFill>
          <a:blip r:embed="rId1"/>
          <a:stretch/>
        </p:blipFill>
        <p:spPr>
          <a:xfrm>
            <a:off x="10013760" y="330480"/>
            <a:ext cx="2136960" cy="1422000"/>
          </a:xfrm>
          <a:prstGeom prst="rect">
            <a:avLst/>
          </a:prstGeom>
          <a:ln w="0">
            <a:noFill/>
          </a:ln>
        </p:spPr>
      </p:pic>
      <p:pic>
        <p:nvPicPr>
          <p:cNvPr id="134" name="Picture 2" descr="fatec_ra_baixada_santista_baixada_santista_rubens_lara_cor.png"/>
          <p:cNvPicPr/>
          <p:nvPr/>
        </p:nvPicPr>
        <p:blipFill>
          <a:blip r:embed="rId2"/>
          <a:stretch/>
        </p:blipFill>
        <p:spPr>
          <a:xfrm>
            <a:off x="10118880" y="2329560"/>
            <a:ext cx="2031480" cy="1070280"/>
          </a:xfrm>
          <a:prstGeom prst="rect">
            <a:avLst/>
          </a:prstGeom>
          <a:ln w="0">
            <a:noFill/>
          </a:ln>
        </p:spPr>
      </p:pic>
      <p:pic>
        <p:nvPicPr>
          <p:cNvPr id="135" name="Graphic 1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577160" y="3787560"/>
            <a:ext cx="1394280" cy="1043640"/>
          </a:xfrm>
          <a:prstGeom prst="rect">
            <a:avLst/>
          </a:prstGeom>
          <a:ln w="0">
            <a:noFill/>
          </a:ln>
        </p:spPr>
      </p:pic>
      <p:pic>
        <p:nvPicPr>
          <p:cNvPr id="136" name="Picture 3" descr="LOGO-SP-PT-HORIZONTAL.png"/>
          <p:cNvPicPr/>
          <p:nvPr/>
        </p:nvPicPr>
        <p:blipFill>
          <a:blip r:embed="rId5"/>
          <a:stretch/>
        </p:blipFill>
        <p:spPr>
          <a:xfrm>
            <a:off x="9668520" y="5452200"/>
            <a:ext cx="2626920" cy="1074960"/>
          </a:xfrm>
          <a:prstGeom prst="rect">
            <a:avLst/>
          </a:prstGeom>
          <a:ln w="0">
            <a:noFill/>
          </a:ln>
        </p:spPr>
      </p:pic>
      <p:pic>
        <p:nvPicPr>
          <p:cNvPr id="137" name="" descr=""/>
          <p:cNvPicPr/>
          <p:nvPr/>
        </p:nvPicPr>
        <p:blipFill>
          <a:blip r:embed="rId6"/>
          <a:stretch/>
        </p:blipFill>
        <p:spPr>
          <a:xfrm>
            <a:off x="720000" y="2215440"/>
            <a:ext cx="9000000" cy="3199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13"/>
          <p:cNvSpPr/>
          <p:nvPr/>
        </p:nvSpPr>
        <p:spPr>
          <a:xfrm>
            <a:off x="0" y="0"/>
            <a:ext cx="12188520" cy="228240"/>
          </a:xfrm>
          <a:prstGeom prst="rect">
            <a:avLst/>
          </a:prstGeom>
          <a:solidFill>
            <a:srgbClr val="004c99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" name="Rectangle 14"/>
          <p:cNvSpPr/>
          <p:nvPr/>
        </p:nvSpPr>
        <p:spPr>
          <a:xfrm>
            <a:off x="0" y="6656760"/>
            <a:ext cx="12188520" cy="200880"/>
          </a:xfrm>
          <a:prstGeom prst="rect">
            <a:avLst/>
          </a:prstGeom>
          <a:solidFill>
            <a:srgbClr val="00285a"/>
          </a:solidFill>
          <a:ln>
            <a:solidFill>
              <a:srgbClr val="0028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" name="Rectangle 15"/>
          <p:cNvSpPr/>
          <p:nvPr/>
        </p:nvSpPr>
        <p:spPr>
          <a:xfrm>
            <a:off x="0" y="228600"/>
            <a:ext cx="136800" cy="6400440"/>
          </a:xfrm>
          <a:prstGeom prst="rect">
            <a:avLst/>
          </a:prstGeom>
          <a:solidFill>
            <a:srgbClr val="228b22"/>
          </a:solidFill>
          <a:ln>
            <a:solidFill>
              <a:srgbClr val="228b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" name="TextBox 9"/>
          <p:cNvSpPr/>
          <p:nvPr/>
        </p:nvSpPr>
        <p:spPr>
          <a:xfrm>
            <a:off x="1014840" y="457200"/>
            <a:ext cx="639468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2800" spc="-1" strike="noStrike">
                <a:solidFill>
                  <a:srgbClr val="00285a"/>
                </a:solidFill>
                <a:latin typeface="Arial"/>
              </a:rPr>
              <a:t>Modelos – Regressor Linear Simples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Rounded Rectangle 4"/>
          <p:cNvSpPr/>
          <p:nvPr/>
        </p:nvSpPr>
        <p:spPr>
          <a:xfrm>
            <a:off x="548640" y="1280160"/>
            <a:ext cx="9344520" cy="4958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3" name="Picture 20" descr="logo_simposio_autalizado copy.png"/>
          <p:cNvPicPr/>
          <p:nvPr/>
        </p:nvPicPr>
        <p:blipFill>
          <a:blip r:embed="rId1"/>
          <a:stretch/>
        </p:blipFill>
        <p:spPr>
          <a:xfrm>
            <a:off x="10013760" y="330480"/>
            <a:ext cx="2136960" cy="1422000"/>
          </a:xfrm>
          <a:prstGeom prst="rect">
            <a:avLst/>
          </a:prstGeom>
          <a:ln w="0">
            <a:noFill/>
          </a:ln>
        </p:spPr>
      </p:pic>
      <p:pic>
        <p:nvPicPr>
          <p:cNvPr id="144" name="Picture 21" descr="fatec_ra_baixada_santista_baixada_santista_rubens_lara_cor.png"/>
          <p:cNvPicPr/>
          <p:nvPr/>
        </p:nvPicPr>
        <p:blipFill>
          <a:blip r:embed="rId2"/>
          <a:stretch/>
        </p:blipFill>
        <p:spPr>
          <a:xfrm>
            <a:off x="10118880" y="2329560"/>
            <a:ext cx="2031480" cy="1070280"/>
          </a:xfrm>
          <a:prstGeom prst="rect">
            <a:avLst/>
          </a:prstGeom>
          <a:ln w="0">
            <a:noFill/>
          </a:ln>
        </p:spPr>
      </p:pic>
      <p:pic>
        <p:nvPicPr>
          <p:cNvPr id="145" name="Graphic 4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577160" y="3787560"/>
            <a:ext cx="1394280" cy="1043640"/>
          </a:xfrm>
          <a:prstGeom prst="rect">
            <a:avLst/>
          </a:prstGeom>
          <a:ln w="0">
            <a:noFill/>
          </a:ln>
        </p:spPr>
      </p:pic>
      <p:pic>
        <p:nvPicPr>
          <p:cNvPr id="146" name="Picture 22" descr="LOGO-SP-PT-HORIZONTAL.png"/>
          <p:cNvPicPr/>
          <p:nvPr/>
        </p:nvPicPr>
        <p:blipFill>
          <a:blip r:embed="rId5"/>
          <a:stretch/>
        </p:blipFill>
        <p:spPr>
          <a:xfrm>
            <a:off x="9668520" y="5452200"/>
            <a:ext cx="2626920" cy="1074960"/>
          </a:xfrm>
          <a:prstGeom prst="rect">
            <a:avLst/>
          </a:prstGeom>
          <a:ln w="0">
            <a:noFill/>
          </a:ln>
        </p:spPr>
      </p:pic>
      <p:pic>
        <p:nvPicPr>
          <p:cNvPr id="147" name="" descr=""/>
          <p:cNvPicPr/>
          <p:nvPr/>
        </p:nvPicPr>
        <p:blipFill>
          <a:blip r:embed="rId6"/>
          <a:stretch/>
        </p:blipFill>
        <p:spPr>
          <a:xfrm>
            <a:off x="892800" y="1620000"/>
            <a:ext cx="8647200" cy="4240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6"/>
          <p:cNvSpPr/>
          <p:nvPr/>
        </p:nvSpPr>
        <p:spPr>
          <a:xfrm>
            <a:off x="0" y="0"/>
            <a:ext cx="12188520" cy="228240"/>
          </a:xfrm>
          <a:prstGeom prst="rect">
            <a:avLst/>
          </a:prstGeom>
          <a:solidFill>
            <a:srgbClr val="004c99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Rectangle 17"/>
          <p:cNvSpPr/>
          <p:nvPr/>
        </p:nvSpPr>
        <p:spPr>
          <a:xfrm>
            <a:off x="0" y="6656760"/>
            <a:ext cx="12188520" cy="200880"/>
          </a:xfrm>
          <a:prstGeom prst="rect">
            <a:avLst/>
          </a:prstGeom>
          <a:solidFill>
            <a:srgbClr val="00285a"/>
          </a:solidFill>
          <a:ln>
            <a:solidFill>
              <a:srgbClr val="0028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" name="Rectangle 18"/>
          <p:cNvSpPr/>
          <p:nvPr/>
        </p:nvSpPr>
        <p:spPr>
          <a:xfrm>
            <a:off x="0" y="228600"/>
            <a:ext cx="136800" cy="6400440"/>
          </a:xfrm>
          <a:prstGeom prst="rect">
            <a:avLst/>
          </a:prstGeom>
          <a:solidFill>
            <a:srgbClr val="228b22"/>
          </a:solidFill>
          <a:ln>
            <a:solidFill>
              <a:srgbClr val="228b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" name="TextBox 12"/>
          <p:cNvSpPr/>
          <p:nvPr/>
        </p:nvSpPr>
        <p:spPr>
          <a:xfrm>
            <a:off x="1014840" y="457200"/>
            <a:ext cx="639468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2800" spc="-1" strike="noStrike">
                <a:solidFill>
                  <a:srgbClr val="00285a"/>
                </a:solidFill>
                <a:latin typeface="Arial"/>
              </a:rPr>
              <a:t>Modelos – Regressor Linear Simples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Rounded Rectangle 5"/>
          <p:cNvSpPr/>
          <p:nvPr/>
        </p:nvSpPr>
        <p:spPr>
          <a:xfrm>
            <a:off x="548640" y="1280160"/>
            <a:ext cx="9344520" cy="4958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3" name="Picture 23" descr="logo_simposio_autalizado copy.png"/>
          <p:cNvPicPr/>
          <p:nvPr/>
        </p:nvPicPr>
        <p:blipFill>
          <a:blip r:embed="rId1"/>
          <a:stretch/>
        </p:blipFill>
        <p:spPr>
          <a:xfrm>
            <a:off x="10013760" y="330480"/>
            <a:ext cx="2136960" cy="1422000"/>
          </a:xfrm>
          <a:prstGeom prst="rect">
            <a:avLst/>
          </a:prstGeom>
          <a:ln w="0">
            <a:noFill/>
          </a:ln>
        </p:spPr>
      </p:pic>
      <p:pic>
        <p:nvPicPr>
          <p:cNvPr id="154" name="Picture 24" descr="fatec_ra_baixada_santista_baixada_santista_rubens_lara_cor.png"/>
          <p:cNvPicPr/>
          <p:nvPr/>
        </p:nvPicPr>
        <p:blipFill>
          <a:blip r:embed="rId2"/>
          <a:stretch/>
        </p:blipFill>
        <p:spPr>
          <a:xfrm>
            <a:off x="10118880" y="2329560"/>
            <a:ext cx="2031480" cy="1070280"/>
          </a:xfrm>
          <a:prstGeom prst="rect">
            <a:avLst/>
          </a:prstGeom>
          <a:ln w="0">
            <a:noFill/>
          </a:ln>
        </p:spPr>
      </p:pic>
      <p:pic>
        <p:nvPicPr>
          <p:cNvPr id="155" name="Graphic 5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577160" y="3787560"/>
            <a:ext cx="1394280" cy="1043640"/>
          </a:xfrm>
          <a:prstGeom prst="rect">
            <a:avLst/>
          </a:prstGeom>
          <a:ln w="0">
            <a:noFill/>
          </a:ln>
        </p:spPr>
      </p:pic>
      <p:pic>
        <p:nvPicPr>
          <p:cNvPr id="156" name="Picture 25" descr="LOGO-SP-PT-HORIZONTAL.png"/>
          <p:cNvPicPr/>
          <p:nvPr/>
        </p:nvPicPr>
        <p:blipFill>
          <a:blip r:embed="rId5"/>
          <a:stretch/>
        </p:blipFill>
        <p:spPr>
          <a:xfrm>
            <a:off x="9668520" y="5452200"/>
            <a:ext cx="2626920" cy="1074960"/>
          </a:xfrm>
          <a:prstGeom prst="rect">
            <a:avLst/>
          </a:prstGeom>
          <a:ln w="0">
            <a:noFill/>
          </a:ln>
        </p:spPr>
      </p:pic>
      <p:pic>
        <p:nvPicPr>
          <p:cNvPr id="157" name="" descr=""/>
          <p:cNvPicPr/>
          <p:nvPr/>
        </p:nvPicPr>
        <p:blipFill>
          <a:blip r:embed="rId6"/>
          <a:stretch/>
        </p:blipFill>
        <p:spPr>
          <a:xfrm>
            <a:off x="900000" y="1620000"/>
            <a:ext cx="8722440" cy="432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 22"/>
          <p:cNvSpPr/>
          <p:nvPr/>
        </p:nvSpPr>
        <p:spPr>
          <a:xfrm>
            <a:off x="0" y="0"/>
            <a:ext cx="12188520" cy="228240"/>
          </a:xfrm>
          <a:prstGeom prst="rect">
            <a:avLst/>
          </a:prstGeom>
          <a:solidFill>
            <a:srgbClr val="004c99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" name="Rectangle 23"/>
          <p:cNvSpPr/>
          <p:nvPr/>
        </p:nvSpPr>
        <p:spPr>
          <a:xfrm>
            <a:off x="0" y="6656760"/>
            <a:ext cx="12188520" cy="200880"/>
          </a:xfrm>
          <a:prstGeom prst="rect">
            <a:avLst/>
          </a:prstGeom>
          <a:solidFill>
            <a:srgbClr val="00285a"/>
          </a:solidFill>
          <a:ln>
            <a:solidFill>
              <a:srgbClr val="0028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Rectangle 24"/>
          <p:cNvSpPr/>
          <p:nvPr/>
        </p:nvSpPr>
        <p:spPr>
          <a:xfrm>
            <a:off x="0" y="228600"/>
            <a:ext cx="136800" cy="6400440"/>
          </a:xfrm>
          <a:prstGeom prst="rect">
            <a:avLst/>
          </a:prstGeom>
          <a:solidFill>
            <a:srgbClr val="228b22"/>
          </a:solidFill>
          <a:ln>
            <a:solidFill>
              <a:srgbClr val="228b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" name="TextBox 14"/>
          <p:cNvSpPr/>
          <p:nvPr/>
        </p:nvSpPr>
        <p:spPr>
          <a:xfrm>
            <a:off x="631080" y="457200"/>
            <a:ext cx="716400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2800" spc="-1" strike="noStrike">
                <a:solidFill>
                  <a:srgbClr val="00285a"/>
                </a:solidFill>
                <a:latin typeface="Arial"/>
              </a:rPr>
              <a:t>Modelos – Regressor Linear Padronizado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Rounded Rectangle 8"/>
          <p:cNvSpPr/>
          <p:nvPr/>
        </p:nvSpPr>
        <p:spPr>
          <a:xfrm>
            <a:off x="548640" y="1280160"/>
            <a:ext cx="9344520" cy="4958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3" name="Picture 29" descr="logo_simposio_autalizado copy.png"/>
          <p:cNvPicPr/>
          <p:nvPr/>
        </p:nvPicPr>
        <p:blipFill>
          <a:blip r:embed="rId1"/>
          <a:stretch/>
        </p:blipFill>
        <p:spPr>
          <a:xfrm>
            <a:off x="10013760" y="330480"/>
            <a:ext cx="2136960" cy="1422000"/>
          </a:xfrm>
          <a:prstGeom prst="rect">
            <a:avLst/>
          </a:prstGeom>
          <a:ln w="0">
            <a:noFill/>
          </a:ln>
        </p:spPr>
      </p:pic>
      <p:pic>
        <p:nvPicPr>
          <p:cNvPr id="164" name="Picture 30" descr="fatec_ra_baixada_santista_baixada_santista_rubens_lara_cor.png"/>
          <p:cNvPicPr/>
          <p:nvPr/>
        </p:nvPicPr>
        <p:blipFill>
          <a:blip r:embed="rId2"/>
          <a:stretch/>
        </p:blipFill>
        <p:spPr>
          <a:xfrm>
            <a:off x="10118880" y="2329560"/>
            <a:ext cx="2031480" cy="1070280"/>
          </a:xfrm>
          <a:prstGeom prst="rect">
            <a:avLst/>
          </a:prstGeom>
          <a:ln w="0">
            <a:noFill/>
          </a:ln>
        </p:spPr>
      </p:pic>
      <p:pic>
        <p:nvPicPr>
          <p:cNvPr id="165" name="Graphic 7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577160" y="3787560"/>
            <a:ext cx="1394280" cy="1043640"/>
          </a:xfrm>
          <a:prstGeom prst="rect">
            <a:avLst/>
          </a:prstGeom>
          <a:ln w="0">
            <a:noFill/>
          </a:ln>
        </p:spPr>
      </p:pic>
      <p:pic>
        <p:nvPicPr>
          <p:cNvPr id="166" name="Picture 31" descr="LOGO-SP-PT-HORIZONTAL.png"/>
          <p:cNvPicPr/>
          <p:nvPr/>
        </p:nvPicPr>
        <p:blipFill>
          <a:blip r:embed="rId5"/>
          <a:stretch/>
        </p:blipFill>
        <p:spPr>
          <a:xfrm>
            <a:off x="9668520" y="5452200"/>
            <a:ext cx="2626920" cy="1074960"/>
          </a:xfrm>
          <a:prstGeom prst="rect">
            <a:avLst/>
          </a:prstGeom>
          <a:ln w="0">
            <a:noFill/>
          </a:ln>
        </p:spPr>
      </p:pic>
      <p:pic>
        <p:nvPicPr>
          <p:cNvPr id="167" name="" descr=""/>
          <p:cNvPicPr/>
          <p:nvPr/>
        </p:nvPicPr>
        <p:blipFill>
          <a:blip r:embed="rId6"/>
          <a:stretch/>
        </p:blipFill>
        <p:spPr>
          <a:xfrm>
            <a:off x="734760" y="1620000"/>
            <a:ext cx="8985240" cy="414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25"/>
          <p:cNvSpPr/>
          <p:nvPr/>
        </p:nvSpPr>
        <p:spPr>
          <a:xfrm>
            <a:off x="0" y="0"/>
            <a:ext cx="12188520" cy="228240"/>
          </a:xfrm>
          <a:prstGeom prst="rect">
            <a:avLst/>
          </a:prstGeom>
          <a:solidFill>
            <a:srgbClr val="004c99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" name="Rectangle 26"/>
          <p:cNvSpPr/>
          <p:nvPr/>
        </p:nvSpPr>
        <p:spPr>
          <a:xfrm>
            <a:off x="0" y="6656760"/>
            <a:ext cx="12188520" cy="200880"/>
          </a:xfrm>
          <a:prstGeom prst="rect">
            <a:avLst/>
          </a:prstGeom>
          <a:solidFill>
            <a:srgbClr val="00285a"/>
          </a:solidFill>
          <a:ln>
            <a:solidFill>
              <a:srgbClr val="0028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" name="Rectangle 27"/>
          <p:cNvSpPr/>
          <p:nvPr/>
        </p:nvSpPr>
        <p:spPr>
          <a:xfrm>
            <a:off x="0" y="228600"/>
            <a:ext cx="136800" cy="6400440"/>
          </a:xfrm>
          <a:prstGeom prst="rect">
            <a:avLst/>
          </a:prstGeom>
          <a:solidFill>
            <a:srgbClr val="228b22"/>
          </a:solidFill>
          <a:ln>
            <a:solidFill>
              <a:srgbClr val="228b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" name="TextBox 15"/>
          <p:cNvSpPr/>
          <p:nvPr/>
        </p:nvSpPr>
        <p:spPr>
          <a:xfrm>
            <a:off x="631080" y="457200"/>
            <a:ext cx="716400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2800" spc="-1" strike="noStrike">
                <a:solidFill>
                  <a:srgbClr val="00285a"/>
                </a:solidFill>
                <a:latin typeface="Arial"/>
              </a:rPr>
              <a:t>Modelos – Regressor Linear Padronizado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Rounded Rectangle 9"/>
          <p:cNvSpPr/>
          <p:nvPr/>
        </p:nvSpPr>
        <p:spPr>
          <a:xfrm>
            <a:off x="548640" y="1280160"/>
            <a:ext cx="9344520" cy="4958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3" name="Picture 32" descr="logo_simposio_autalizado copy.png"/>
          <p:cNvPicPr/>
          <p:nvPr/>
        </p:nvPicPr>
        <p:blipFill>
          <a:blip r:embed="rId1"/>
          <a:stretch/>
        </p:blipFill>
        <p:spPr>
          <a:xfrm>
            <a:off x="10013760" y="330480"/>
            <a:ext cx="2136960" cy="1422000"/>
          </a:xfrm>
          <a:prstGeom prst="rect">
            <a:avLst/>
          </a:prstGeom>
          <a:ln w="0">
            <a:noFill/>
          </a:ln>
        </p:spPr>
      </p:pic>
      <p:pic>
        <p:nvPicPr>
          <p:cNvPr id="174" name="Picture 33" descr="fatec_ra_baixada_santista_baixada_santista_rubens_lara_cor.png"/>
          <p:cNvPicPr/>
          <p:nvPr/>
        </p:nvPicPr>
        <p:blipFill>
          <a:blip r:embed="rId2"/>
          <a:stretch/>
        </p:blipFill>
        <p:spPr>
          <a:xfrm>
            <a:off x="10118880" y="2329560"/>
            <a:ext cx="2031480" cy="1070280"/>
          </a:xfrm>
          <a:prstGeom prst="rect">
            <a:avLst/>
          </a:prstGeom>
          <a:ln w="0">
            <a:noFill/>
          </a:ln>
        </p:spPr>
      </p:pic>
      <p:pic>
        <p:nvPicPr>
          <p:cNvPr id="175" name="Graphic 8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577160" y="3787560"/>
            <a:ext cx="1394280" cy="1043640"/>
          </a:xfrm>
          <a:prstGeom prst="rect">
            <a:avLst/>
          </a:prstGeom>
          <a:ln w="0">
            <a:noFill/>
          </a:ln>
        </p:spPr>
      </p:pic>
      <p:pic>
        <p:nvPicPr>
          <p:cNvPr id="176" name="Picture 34" descr="LOGO-SP-PT-HORIZONTAL.png"/>
          <p:cNvPicPr/>
          <p:nvPr/>
        </p:nvPicPr>
        <p:blipFill>
          <a:blip r:embed="rId5"/>
          <a:stretch/>
        </p:blipFill>
        <p:spPr>
          <a:xfrm>
            <a:off x="9668520" y="5452200"/>
            <a:ext cx="2626920" cy="1074960"/>
          </a:xfrm>
          <a:prstGeom prst="rect">
            <a:avLst/>
          </a:prstGeom>
          <a:ln w="0">
            <a:noFill/>
          </a:ln>
        </p:spPr>
      </p:pic>
      <p:pic>
        <p:nvPicPr>
          <p:cNvPr id="177" name="" descr=""/>
          <p:cNvPicPr/>
          <p:nvPr/>
        </p:nvPicPr>
        <p:blipFill>
          <a:blip r:embed="rId6"/>
          <a:stretch/>
        </p:blipFill>
        <p:spPr>
          <a:xfrm>
            <a:off x="900000" y="1620000"/>
            <a:ext cx="8640000" cy="4311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28"/>
          <p:cNvSpPr/>
          <p:nvPr/>
        </p:nvSpPr>
        <p:spPr>
          <a:xfrm>
            <a:off x="0" y="0"/>
            <a:ext cx="12188520" cy="228240"/>
          </a:xfrm>
          <a:prstGeom prst="rect">
            <a:avLst/>
          </a:prstGeom>
          <a:solidFill>
            <a:srgbClr val="004c99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Rectangle 29"/>
          <p:cNvSpPr/>
          <p:nvPr/>
        </p:nvSpPr>
        <p:spPr>
          <a:xfrm>
            <a:off x="0" y="6656760"/>
            <a:ext cx="12188520" cy="200880"/>
          </a:xfrm>
          <a:prstGeom prst="rect">
            <a:avLst/>
          </a:prstGeom>
          <a:solidFill>
            <a:srgbClr val="00285a"/>
          </a:solidFill>
          <a:ln>
            <a:solidFill>
              <a:srgbClr val="0028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Rectangle 30"/>
          <p:cNvSpPr/>
          <p:nvPr/>
        </p:nvSpPr>
        <p:spPr>
          <a:xfrm>
            <a:off x="0" y="228600"/>
            <a:ext cx="136800" cy="6400440"/>
          </a:xfrm>
          <a:prstGeom prst="rect">
            <a:avLst/>
          </a:prstGeom>
          <a:solidFill>
            <a:srgbClr val="228b22"/>
          </a:solidFill>
          <a:ln>
            <a:solidFill>
              <a:srgbClr val="228b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" name="TextBox 16"/>
          <p:cNvSpPr/>
          <p:nvPr/>
        </p:nvSpPr>
        <p:spPr>
          <a:xfrm>
            <a:off x="1379160" y="457200"/>
            <a:ext cx="566460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2800" spc="-1" strike="noStrike">
                <a:solidFill>
                  <a:srgbClr val="00285a"/>
                </a:solidFill>
                <a:latin typeface="Arial"/>
              </a:rPr>
              <a:t>Modelos – Regressor Polinomial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Rounded Rectangle 10"/>
          <p:cNvSpPr/>
          <p:nvPr/>
        </p:nvSpPr>
        <p:spPr>
          <a:xfrm>
            <a:off x="548640" y="1280160"/>
            <a:ext cx="9344520" cy="4958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3" name="Picture 35" descr="logo_simposio_autalizado copy.png"/>
          <p:cNvPicPr/>
          <p:nvPr/>
        </p:nvPicPr>
        <p:blipFill>
          <a:blip r:embed="rId1"/>
          <a:stretch/>
        </p:blipFill>
        <p:spPr>
          <a:xfrm>
            <a:off x="10013760" y="330480"/>
            <a:ext cx="2136960" cy="1422000"/>
          </a:xfrm>
          <a:prstGeom prst="rect">
            <a:avLst/>
          </a:prstGeom>
          <a:ln w="0">
            <a:noFill/>
          </a:ln>
        </p:spPr>
      </p:pic>
      <p:pic>
        <p:nvPicPr>
          <p:cNvPr id="184" name="Picture 36" descr="fatec_ra_baixada_santista_baixada_santista_rubens_lara_cor.png"/>
          <p:cNvPicPr/>
          <p:nvPr/>
        </p:nvPicPr>
        <p:blipFill>
          <a:blip r:embed="rId2"/>
          <a:stretch/>
        </p:blipFill>
        <p:spPr>
          <a:xfrm>
            <a:off x="10118880" y="2329560"/>
            <a:ext cx="2031480" cy="1070280"/>
          </a:xfrm>
          <a:prstGeom prst="rect">
            <a:avLst/>
          </a:prstGeom>
          <a:ln w="0">
            <a:noFill/>
          </a:ln>
        </p:spPr>
      </p:pic>
      <p:pic>
        <p:nvPicPr>
          <p:cNvPr id="185" name="Graphic 9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577160" y="3787560"/>
            <a:ext cx="1394280" cy="1043640"/>
          </a:xfrm>
          <a:prstGeom prst="rect">
            <a:avLst/>
          </a:prstGeom>
          <a:ln w="0">
            <a:noFill/>
          </a:ln>
        </p:spPr>
      </p:pic>
      <p:pic>
        <p:nvPicPr>
          <p:cNvPr id="186" name="Picture 37" descr="LOGO-SP-PT-HORIZONTAL.png"/>
          <p:cNvPicPr/>
          <p:nvPr/>
        </p:nvPicPr>
        <p:blipFill>
          <a:blip r:embed="rId5"/>
          <a:stretch/>
        </p:blipFill>
        <p:spPr>
          <a:xfrm>
            <a:off x="9668520" y="5452200"/>
            <a:ext cx="2626920" cy="1074960"/>
          </a:xfrm>
          <a:prstGeom prst="rect">
            <a:avLst/>
          </a:prstGeom>
          <a:ln w="0">
            <a:noFill/>
          </a:ln>
        </p:spPr>
      </p:pic>
      <p:pic>
        <p:nvPicPr>
          <p:cNvPr id="187" name="" descr=""/>
          <p:cNvPicPr/>
          <p:nvPr/>
        </p:nvPicPr>
        <p:blipFill>
          <a:blip r:embed="rId6"/>
          <a:stretch/>
        </p:blipFill>
        <p:spPr>
          <a:xfrm>
            <a:off x="856080" y="1620000"/>
            <a:ext cx="8755920" cy="4232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Rectangle 31"/>
          <p:cNvSpPr/>
          <p:nvPr/>
        </p:nvSpPr>
        <p:spPr>
          <a:xfrm>
            <a:off x="0" y="0"/>
            <a:ext cx="12188520" cy="228240"/>
          </a:xfrm>
          <a:prstGeom prst="rect">
            <a:avLst/>
          </a:prstGeom>
          <a:solidFill>
            <a:srgbClr val="004c99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" name="Rectangle 32"/>
          <p:cNvSpPr/>
          <p:nvPr/>
        </p:nvSpPr>
        <p:spPr>
          <a:xfrm>
            <a:off x="0" y="6656760"/>
            <a:ext cx="12188520" cy="200880"/>
          </a:xfrm>
          <a:prstGeom prst="rect">
            <a:avLst/>
          </a:prstGeom>
          <a:solidFill>
            <a:srgbClr val="00285a"/>
          </a:solidFill>
          <a:ln>
            <a:solidFill>
              <a:srgbClr val="0028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" name="Rectangle 33"/>
          <p:cNvSpPr/>
          <p:nvPr/>
        </p:nvSpPr>
        <p:spPr>
          <a:xfrm>
            <a:off x="0" y="228600"/>
            <a:ext cx="136800" cy="6400440"/>
          </a:xfrm>
          <a:prstGeom prst="rect">
            <a:avLst/>
          </a:prstGeom>
          <a:solidFill>
            <a:srgbClr val="228b22"/>
          </a:solidFill>
          <a:ln>
            <a:solidFill>
              <a:srgbClr val="228b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TextBox 17"/>
          <p:cNvSpPr/>
          <p:nvPr/>
        </p:nvSpPr>
        <p:spPr>
          <a:xfrm>
            <a:off x="1380600" y="457200"/>
            <a:ext cx="566460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2800" spc="-1" strike="noStrike">
                <a:solidFill>
                  <a:srgbClr val="00285a"/>
                </a:solidFill>
                <a:latin typeface="Arial"/>
              </a:rPr>
              <a:t>Modelos – Regressor Polinomial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Rounded Rectangle 11"/>
          <p:cNvSpPr/>
          <p:nvPr/>
        </p:nvSpPr>
        <p:spPr>
          <a:xfrm>
            <a:off x="548640" y="1280160"/>
            <a:ext cx="9344520" cy="4958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3" name="Picture 38" descr="logo_simposio_autalizado copy.png"/>
          <p:cNvPicPr/>
          <p:nvPr/>
        </p:nvPicPr>
        <p:blipFill>
          <a:blip r:embed="rId1"/>
          <a:stretch/>
        </p:blipFill>
        <p:spPr>
          <a:xfrm>
            <a:off x="10013760" y="330480"/>
            <a:ext cx="2136960" cy="1422000"/>
          </a:xfrm>
          <a:prstGeom prst="rect">
            <a:avLst/>
          </a:prstGeom>
          <a:ln w="0">
            <a:noFill/>
          </a:ln>
        </p:spPr>
      </p:pic>
      <p:pic>
        <p:nvPicPr>
          <p:cNvPr id="194" name="Picture 39" descr="fatec_ra_baixada_santista_baixada_santista_rubens_lara_cor.png"/>
          <p:cNvPicPr/>
          <p:nvPr/>
        </p:nvPicPr>
        <p:blipFill>
          <a:blip r:embed="rId2"/>
          <a:stretch/>
        </p:blipFill>
        <p:spPr>
          <a:xfrm>
            <a:off x="10118880" y="2329560"/>
            <a:ext cx="2031480" cy="1070280"/>
          </a:xfrm>
          <a:prstGeom prst="rect">
            <a:avLst/>
          </a:prstGeom>
          <a:ln w="0">
            <a:noFill/>
          </a:ln>
        </p:spPr>
      </p:pic>
      <p:pic>
        <p:nvPicPr>
          <p:cNvPr id="195" name="Graphic 10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577160" y="3787560"/>
            <a:ext cx="1394280" cy="1043640"/>
          </a:xfrm>
          <a:prstGeom prst="rect">
            <a:avLst/>
          </a:prstGeom>
          <a:ln w="0">
            <a:noFill/>
          </a:ln>
        </p:spPr>
      </p:pic>
      <p:pic>
        <p:nvPicPr>
          <p:cNvPr id="196" name="Picture 40" descr="LOGO-SP-PT-HORIZONTAL.png"/>
          <p:cNvPicPr/>
          <p:nvPr/>
        </p:nvPicPr>
        <p:blipFill>
          <a:blip r:embed="rId5"/>
          <a:stretch/>
        </p:blipFill>
        <p:spPr>
          <a:xfrm>
            <a:off x="9668520" y="5452200"/>
            <a:ext cx="2626920" cy="1074960"/>
          </a:xfrm>
          <a:prstGeom prst="rect">
            <a:avLst/>
          </a:prstGeom>
          <a:ln w="0">
            <a:noFill/>
          </a:ln>
        </p:spPr>
      </p:pic>
      <p:pic>
        <p:nvPicPr>
          <p:cNvPr id="197" name="" descr=""/>
          <p:cNvPicPr/>
          <p:nvPr/>
        </p:nvPicPr>
        <p:blipFill>
          <a:blip r:embed="rId6"/>
          <a:stretch/>
        </p:blipFill>
        <p:spPr>
          <a:xfrm>
            <a:off x="828720" y="1656000"/>
            <a:ext cx="8747280" cy="4192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34"/>
          <p:cNvSpPr/>
          <p:nvPr/>
        </p:nvSpPr>
        <p:spPr>
          <a:xfrm>
            <a:off x="0" y="0"/>
            <a:ext cx="12188520" cy="228240"/>
          </a:xfrm>
          <a:prstGeom prst="rect">
            <a:avLst/>
          </a:prstGeom>
          <a:solidFill>
            <a:srgbClr val="004c99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" name="Rectangle 35"/>
          <p:cNvSpPr/>
          <p:nvPr/>
        </p:nvSpPr>
        <p:spPr>
          <a:xfrm>
            <a:off x="0" y="6656760"/>
            <a:ext cx="12188520" cy="200880"/>
          </a:xfrm>
          <a:prstGeom prst="rect">
            <a:avLst/>
          </a:prstGeom>
          <a:solidFill>
            <a:srgbClr val="00285a"/>
          </a:solidFill>
          <a:ln>
            <a:solidFill>
              <a:srgbClr val="0028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" name="Rectangle 36"/>
          <p:cNvSpPr/>
          <p:nvPr/>
        </p:nvSpPr>
        <p:spPr>
          <a:xfrm>
            <a:off x="0" y="228600"/>
            <a:ext cx="136800" cy="6400440"/>
          </a:xfrm>
          <a:prstGeom prst="rect">
            <a:avLst/>
          </a:prstGeom>
          <a:solidFill>
            <a:srgbClr val="228b22"/>
          </a:solidFill>
          <a:ln>
            <a:solidFill>
              <a:srgbClr val="228b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" name="TextBox 18"/>
          <p:cNvSpPr/>
          <p:nvPr/>
        </p:nvSpPr>
        <p:spPr>
          <a:xfrm>
            <a:off x="3113640" y="457200"/>
            <a:ext cx="219132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2800" spc="-1" strike="noStrike">
                <a:solidFill>
                  <a:srgbClr val="00285a"/>
                </a:solidFill>
                <a:latin typeface="Arial"/>
              </a:rPr>
              <a:t>Conclusões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ounded Rectangle 12"/>
          <p:cNvSpPr/>
          <p:nvPr/>
        </p:nvSpPr>
        <p:spPr>
          <a:xfrm>
            <a:off x="548640" y="1280160"/>
            <a:ext cx="9344520" cy="4958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3" name="Picture 41" descr="logo_simposio_autalizado copy.png"/>
          <p:cNvPicPr/>
          <p:nvPr/>
        </p:nvPicPr>
        <p:blipFill>
          <a:blip r:embed="rId1"/>
          <a:stretch/>
        </p:blipFill>
        <p:spPr>
          <a:xfrm>
            <a:off x="10013760" y="330480"/>
            <a:ext cx="2136960" cy="1422000"/>
          </a:xfrm>
          <a:prstGeom prst="rect">
            <a:avLst/>
          </a:prstGeom>
          <a:ln w="0">
            <a:noFill/>
          </a:ln>
        </p:spPr>
      </p:pic>
      <p:pic>
        <p:nvPicPr>
          <p:cNvPr id="204" name="Picture 42" descr="fatec_ra_baixada_santista_baixada_santista_rubens_lara_cor.png"/>
          <p:cNvPicPr/>
          <p:nvPr/>
        </p:nvPicPr>
        <p:blipFill>
          <a:blip r:embed="rId2"/>
          <a:stretch/>
        </p:blipFill>
        <p:spPr>
          <a:xfrm>
            <a:off x="10118880" y="2329560"/>
            <a:ext cx="2031480" cy="1070280"/>
          </a:xfrm>
          <a:prstGeom prst="rect">
            <a:avLst/>
          </a:prstGeom>
          <a:ln w="0">
            <a:noFill/>
          </a:ln>
        </p:spPr>
      </p:pic>
      <p:pic>
        <p:nvPicPr>
          <p:cNvPr id="205" name="Graphic 11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577160" y="3787560"/>
            <a:ext cx="1394280" cy="1043640"/>
          </a:xfrm>
          <a:prstGeom prst="rect">
            <a:avLst/>
          </a:prstGeom>
          <a:ln w="0">
            <a:noFill/>
          </a:ln>
        </p:spPr>
      </p:pic>
      <p:pic>
        <p:nvPicPr>
          <p:cNvPr id="206" name="Picture 43" descr="LOGO-SP-PT-HORIZONTAL.png"/>
          <p:cNvPicPr/>
          <p:nvPr/>
        </p:nvPicPr>
        <p:blipFill>
          <a:blip r:embed="rId5"/>
          <a:stretch/>
        </p:blipFill>
        <p:spPr>
          <a:xfrm>
            <a:off x="9668520" y="5452200"/>
            <a:ext cx="2626920" cy="1074960"/>
          </a:xfrm>
          <a:prstGeom prst="rect">
            <a:avLst/>
          </a:prstGeom>
          <a:ln w="0">
            <a:noFill/>
          </a:ln>
        </p:spPr>
      </p:pic>
      <p:pic>
        <p:nvPicPr>
          <p:cNvPr id="207" name="" descr=""/>
          <p:cNvPicPr/>
          <p:nvPr/>
        </p:nvPicPr>
        <p:blipFill>
          <a:blip r:embed="rId6"/>
          <a:stretch/>
        </p:blipFill>
        <p:spPr>
          <a:xfrm>
            <a:off x="684000" y="2376000"/>
            <a:ext cx="9086760" cy="270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Rectangle 37"/>
          <p:cNvSpPr/>
          <p:nvPr/>
        </p:nvSpPr>
        <p:spPr>
          <a:xfrm>
            <a:off x="0" y="0"/>
            <a:ext cx="12188520" cy="228240"/>
          </a:xfrm>
          <a:prstGeom prst="rect">
            <a:avLst/>
          </a:prstGeom>
          <a:solidFill>
            <a:srgbClr val="004c99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" name="Rectangle 38"/>
          <p:cNvSpPr/>
          <p:nvPr/>
        </p:nvSpPr>
        <p:spPr>
          <a:xfrm>
            <a:off x="0" y="6656760"/>
            <a:ext cx="12188520" cy="200880"/>
          </a:xfrm>
          <a:prstGeom prst="rect">
            <a:avLst/>
          </a:prstGeom>
          <a:solidFill>
            <a:srgbClr val="00285a"/>
          </a:solidFill>
          <a:ln>
            <a:solidFill>
              <a:srgbClr val="0028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" name="Rectangle 39"/>
          <p:cNvSpPr/>
          <p:nvPr/>
        </p:nvSpPr>
        <p:spPr>
          <a:xfrm>
            <a:off x="0" y="228600"/>
            <a:ext cx="136800" cy="6400440"/>
          </a:xfrm>
          <a:prstGeom prst="rect">
            <a:avLst/>
          </a:prstGeom>
          <a:solidFill>
            <a:srgbClr val="228b22"/>
          </a:solidFill>
          <a:ln>
            <a:solidFill>
              <a:srgbClr val="228b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" name="TextBox 19"/>
          <p:cNvSpPr/>
          <p:nvPr/>
        </p:nvSpPr>
        <p:spPr>
          <a:xfrm>
            <a:off x="3112920" y="457200"/>
            <a:ext cx="219276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2800" spc="-1" strike="noStrike">
                <a:solidFill>
                  <a:srgbClr val="00285a"/>
                </a:solidFill>
                <a:latin typeface="Arial"/>
              </a:rPr>
              <a:t>Referências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Rounded Rectangle 13"/>
          <p:cNvSpPr/>
          <p:nvPr/>
        </p:nvSpPr>
        <p:spPr>
          <a:xfrm>
            <a:off x="548640" y="1280160"/>
            <a:ext cx="9344520" cy="4958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3" name="Picture 44" descr="logo_simposio_autalizado copy.png"/>
          <p:cNvPicPr/>
          <p:nvPr/>
        </p:nvPicPr>
        <p:blipFill>
          <a:blip r:embed="rId1"/>
          <a:stretch/>
        </p:blipFill>
        <p:spPr>
          <a:xfrm>
            <a:off x="10013760" y="330480"/>
            <a:ext cx="2136960" cy="1422000"/>
          </a:xfrm>
          <a:prstGeom prst="rect">
            <a:avLst/>
          </a:prstGeom>
          <a:ln w="0">
            <a:noFill/>
          </a:ln>
        </p:spPr>
      </p:pic>
      <p:pic>
        <p:nvPicPr>
          <p:cNvPr id="214" name="Picture 45" descr="fatec_ra_baixada_santista_baixada_santista_rubens_lara_cor.png"/>
          <p:cNvPicPr/>
          <p:nvPr/>
        </p:nvPicPr>
        <p:blipFill>
          <a:blip r:embed="rId2"/>
          <a:stretch/>
        </p:blipFill>
        <p:spPr>
          <a:xfrm>
            <a:off x="10118880" y="2329560"/>
            <a:ext cx="2031480" cy="1070280"/>
          </a:xfrm>
          <a:prstGeom prst="rect">
            <a:avLst/>
          </a:prstGeom>
          <a:ln w="0">
            <a:noFill/>
          </a:ln>
        </p:spPr>
      </p:pic>
      <p:pic>
        <p:nvPicPr>
          <p:cNvPr id="215" name="Graphic 12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577160" y="3787560"/>
            <a:ext cx="1394280" cy="1043640"/>
          </a:xfrm>
          <a:prstGeom prst="rect">
            <a:avLst/>
          </a:prstGeom>
          <a:ln w="0">
            <a:noFill/>
          </a:ln>
        </p:spPr>
      </p:pic>
      <p:pic>
        <p:nvPicPr>
          <p:cNvPr id="216" name="Picture 46" descr="LOGO-SP-PT-HORIZONTAL.png"/>
          <p:cNvPicPr/>
          <p:nvPr/>
        </p:nvPicPr>
        <p:blipFill>
          <a:blip r:embed="rId5"/>
          <a:stretch/>
        </p:blipFill>
        <p:spPr>
          <a:xfrm>
            <a:off x="9668520" y="5452200"/>
            <a:ext cx="2626920" cy="1074960"/>
          </a:xfrm>
          <a:prstGeom prst="rect">
            <a:avLst/>
          </a:prstGeom>
          <a:ln w="0">
            <a:noFill/>
          </a:ln>
        </p:spPr>
      </p:pic>
      <p:pic>
        <p:nvPicPr>
          <p:cNvPr id="217" name="" descr=""/>
          <p:cNvPicPr/>
          <p:nvPr/>
        </p:nvPicPr>
        <p:blipFill>
          <a:blip r:embed="rId6"/>
          <a:stretch/>
        </p:blipFill>
        <p:spPr>
          <a:xfrm>
            <a:off x="1089360" y="3164040"/>
            <a:ext cx="8235720" cy="108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Rectangle 1"/>
          <p:cNvSpPr/>
          <p:nvPr/>
        </p:nvSpPr>
        <p:spPr>
          <a:xfrm>
            <a:off x="0" y="0"/>
            <a:ext cx="12188520" cy="228240"/>
          </a:xfrm>
          <a:prstGeom prst="rect">
            <a:avLst/>
          </a:prstGeom>
          <a:solidFill>
            <a:srgbClr val="004c99"/>
          </a:solidFill>
          <a:ln>
            <a:solidFill>
              <a:srgbClr val="004c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" name="Rectangle 2"/>
          <p:cNvSpPr/>
          <p:nvPr/>
        </p:nvSpPr>
        <p:spPr>
          <a:xfrm>
            <a:off x="0" y="6656760"/>
            <a:ext cx="12188520" cy="200880"/>
          </a:xfrm>
          <a:prstGeom prst="rect">
            <a:avLst/>
          </a:prstGeom>
          <a:solidFill>
            <a:srgbClr val="00285a"/>
          </a:solidFill>
          <a:ln>
            <a:solidFill>
              <a:srgbClr val="0028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" name="Rectangle 3"/>
          <p:cNvSpPr/>
          <p:nvPr/>
        </p:nvSpPr>
        <p:spPr>
          <a:xfrm>
            <a:off x="0" y="228600"/>
            <a:ext cx="136800" cy="6400440"/>
          </a:xfrm>
          <a:prstGeom prst="rect">
            <a:avLst/>
          </a:prstGeom>
          <a:solidFill>
            <a:srgbClr val="228b22"/>
          </a:solidFill>
          <a:ln>
            <a:solidFill>
              <a:srgbClr val="228b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1" name="Picture 5" descr="logo_simposio_autalizado copy.png"/>
          <p:cNvPicPr/>
          <p:nvPr/>
        </p:nvPicPr>
        <p:blipFill>
          <a:blip r:embed="rId1"/>
          <a:stretch/>
        </p:blipFill>
        <p:spPr>
          <a:xfrm>
            <a:off x="8940600" y="255960"/>
            <a:ext cx="3179520" cy="2116080"/>
          </a:xfrm>
          <a:prstGeom prst="rect">
            <a:avLst/>
          </a:prstGeom>
          <a:ln w="0">
            <a:noFill/>
          </a:ln>
        </p:spPr>
      </p:pic>
      <p:sp>
        <p:nvSpPr>
          <p:cNvPr id="222" name="TextBox 10"/>
          <p:cNvSpPr/>
          <p:nvPr/>
        </p:nvSpPr>
        <p:spPr>
          <a:xfrm>
            <a:off x="1483920" y="2834640"/>
            <a:ext cx="8848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chemeClr val="dk1"/>
                </a:solidFill>
                <a:latin typeface="Arial"/>
              </a:rPr>
              <a:t>OBRIGADO(A)!</a:t>
            </a:r>
            <a:endParaRPr b="0" lang="pt-BR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Box 11"/>
          <p:cNvSpPr/>
          <p:nvPr/>
        </p:nvSpPr>
        <p:spPr>
          <a:xfrm>
            <a:off x="1618920" y="3657600"/>
            <a:ext cx="843912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chemeClr val="dk1"/>
                </a:solidFill>
                <a:latin typeface="Arial"/>
              </a:rPr>
              <a:t>Perguntas e Discussão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4" name="Picture 15" descr="fatec_ra_baixada_santista_baixada_santista_rubens_lara_cor.png"/>
          <p:cNvPicPr/>
          <p:nvPr/>
        </p:nvPicPr>
        <p:blipFill>
          <a:blip r:embed="rId2"/>
          <a:stretch/>
        </p:blipFill>
        <p:spPr>
          <a:xfrm>
            <a:off x="5984640" y="487800"/>
            <a:ext cx="2277000" cy="1199520"/>
          </a:xfrm>
          <a:prstGeom prst="rect">
            <a:avLst/>
          </a:prstGeom>
          <a:ln w="0">
            <a:noFill/>
          </a:ln>
        </p:spPr>
      </p:pic>
      <p:pic>
        <p:nvPicPr>
          <p:cNvPr id="225" name="Graphic 16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47680" y="378360"/>
            <a:ext cx="1512720" cy="997200"/>
          </a:xfrm>
          <a:prstGeom prst="rect">
            <a:avLst/>
          </a:prstGeom>
          <a:ln w="0">
            <a:noFill/>
          </a:ln>
        </p:spPr>
      </p:pic>
      <p:pic>
        <p:nvPicPr>
          <p:cNvPr id="226" name="Picture 17" descr="LOGO-SP-PT-HORIZONTAL.png"/>
          <p:cNvPicPr/>
          <p:nvPr/>
        </p:nvPicPr>
        <p:blipFill>
          <a:blip r:embed="rId5"/>
          <a:stretch/>
        </p:blipFill>
        <p:spPr>
          <a:xfrm>
            <a:off x="68760" y="127440"/>
            <a:ext cx="3710160" cy="1518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</TotalTime>
  <Application>LibreOffice/24.2.7.2$Linux_X86_64 LibreOffice_project/420$Build-2</Application>
  <AppVersion>15.0000</AppVersion>
  <Words>253</Words>
  <Paragraphs>49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pt-BR</dc:language>
  <cp:lastModifiedBy/>
  <dcterms:modified xsi:type="dcterms:W3CDTF">2026-05-21T11:39:20Z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9</vt:i4>
  </property>
</Properties>
</file>