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_rels/presentation.xml.rels" ContentType="application/vnd.openxmlformats-package.relationships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14.png" ContentType="image/png"/>
  <Override PartName="/ppt/media/image5.svg" ContentType="image/svg"/>
  <Override PartName="/ppt/media/image8.png" ContentType="image/png"/>
  <Override PartName="/ppt/media/image17.png" ContentType="image/png"/>
  <Override PartName="/ppt/media/image12.png" ContentType="image/png"/>
  <Override PartName="/ppt/media/image3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16.png" ContentType="image/png"/>
  <Override PartName="/ppt/media/image7.png" ContentType="image/png"/>
  <Override PartName="/ppt/media/image11.png" ContentType="image/pn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</p:sldIdLst>
  <p:sldSz cx="12188825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E37AE54-4AAC-4977-9008-47BBA865880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0CE96FF-F520-40C9-80F7-CFF858C55F6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27CF901-B60C-4617-8DEA-592ABC88DB7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AA5EAB83-160D-4C02-B0A3-3E4985DD7EB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EB9FFB88-518D-455D-9B7A-97B1D4F101D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EF33AEFE-7AA5-46A6-A3FB-5F8A68E6F48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BF5FB82C-D531-4BF9-BF1F-77A451388F4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FE680ED9-790F-4890-966D-89E6454EB41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4379A4B3-A36F-4602-BA52-84D5903F384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70EB8945-3A4A-4D21-B78F-9FAA10BE92E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0D39A25F-893A-45B5-A515-4974A628AEF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A8ACBAD-7962-4193-90EE-3F0C6BE2B17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97FFC04-B920-438A-8776-B28979D57CC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98C0405-8740-464F-97F4-6362697D086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2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BE45850-BD7F-4885-AC55-1C4B773A033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56152C4-02F0-429D-8984-6C31E4CBF86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53524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0160" y="1604520"/>
            <a:ext cx="53524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8F1260D-D3E2-49AB-BB2F-DBFDC8978A7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12A63AF-957F-4A74-B6CE-DD4BF18F34F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2978034-8731-446C-99D9-26E4A990B76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97D3B2F-2AB0-4326-8ED4-62A50E8A2D8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241308A-9C47-4068-9073-724556E03FC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066AF13-2894-4983-AEAE-11473FD480B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svg"/><Relationship Id="rId6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svg"/><Relationship Id="rId6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sv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2.png"/><Relationship Id="rId6" Type="http://schemas.openxmlformats.org/officeDocument/2006/relationships/image" Target="../media/image7.png"/><Relationship Id="rId7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2.png"/><Relationship Id="rId6" Type="http://schemas.openxmlformats.org/officeDocument/2006/relationships/image" Target="../media/image8.png"/><Relationship Id="rId7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2.png"/><Relationship Id="rId6" Type="http://schemas.openxmlformats.org/officeDocument/2006/relationships/image" Target="../media/image9.png"/><Relationship Id="rId7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2.png"/><Relationship Id="rId6" Type="http://schemas.openxmlformats.org/officeDocument/2006/relationships/image" Target="../media/image10.png"/><Relationship Id="rId7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2.png"/><Relationship Id="rId6" Type="http://schemas.openxmlformats.org/officeDocument/2006/relationships/image" Target="../media/image11.png"/><Relationship Id="rId7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2.png"/><Relationship Id="rId6" Type="http://schemas.openxmlformats.org/officeDocument/2006/relationships/image" Target="../media/image12.png"/><Relationship Id="rId7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2.png"/><Relationship Id="rId6" Type="http://schemas.openxmlformats.org/officeDocument/2006/relationships/image" Target="../media/image13.png"/><Relationship Id="rId7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2.png"/><Relationship Id="rId6" Type="http://schemas.openxmlformats.org/officeDocument/2006/relationships/image" Target="../media/image14.png"/><Relationship Id="rId7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2.png"/><Relationship Id="rId6" Type="http://schemas.openxmlformats.org/officeDocument/2006/relationships/image" Target="../media/image15.png"/><Relationship Id="rId7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2.png"/><Relationship Id="rId6" Type="http://schemas.openxmlformats.org/officeDocument/2006/relationships/image" Target="../media/image16.png"/><Relationship Id="rId7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2.png"/><Relationship Id="rId6" Type="http://schemas.openxmlformats.org/officeDocument/2006/relationships/image" Target="../media/image17.png"/><Relationship Id="rId7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2.png"/><Relationship Id="rId6" Type="http://schemas.openxmlformats.org/officeDocument/2006/relationships/image" Target="../media/image18.png"/><Relationship Id="rId7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1"/>
          <p:cNvSpPr/>
          <p:nvPr/>
        </p:nvSpPr>
        <p:spPr>
          <a:xfrm>
            <a:off x="0" y="0"/>
            <a:ext cx="12188160" cy="22788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" name="Rectangle 2"/>
          <p:cNvSpPr/>
          <p:nvPr/>
        </p:nvSpPr>
        <p:spPr>
          <a:xfrm>
            <a:off x="0" y="6656760"/>
            <a:ext cx="12188160" cy="200520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" name="Rectangle 3"/>
          <p:cNvSpPr/>
          <p:nvPr/>
        </p:nvSpPr>
        <p:spPr>
          <a:xfrm>
            <a:off x="0" y="228600"/>
            <a:ext cx="136440" cy="640008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53" name="Picture 4" descr="logo_simposio_autalizado copy.png"/>
          <p:cNvPicPr/>
          <p:nvPr/>
        </p:nvPicPr>
        <p:blipFill>
          <a:blip r:embed="rId1"/>
          <a:stretch/>
        </p:blipFill>
        <p:spPr>
          <a:xfrm>
            <a:off x="8940600" y="255960"/>
            <a:ext cx="3179160" cy="2115720"/>
          </a:xfrm>
          <a:prstGeom prst="rect">
            <a:avLst/>
          </a:prstGeom>
          <a:ln w="0">
            <a:noFill/>
          </a:ln>
        </p:spPr>
      </p:pic>
      <p:sp>
        <p:nvSpPr>
          <p:cNvPr id="54" name="TextBox 5"/>
          <p:cNvSpPr/>
          <p:nvPr/>
        </p:nvSpPr>
        <p:spPr>
          <a:xfrm>
            <a:off x="707040" y="2450880"/>
            <a:ext cx="8232840" cy="158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3000" spc="-1" strike="noStrike">
                <a:solidFill>
                  <a:srgbClr val="00285a"/>
                </a:solidFill>
                <a:latin typeface="Arial"/>
              </a:rPr>
              <a:t>Implementação Categorial de Modelos de Regressão via Composição de Morfismos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Box 6"/>
          <p:cNvSpPr/>
          <p:nvPr/>
        </p:nvSpPr>
        <p:spPr>
          <a:xfrm>
            <a:off x="644400" y="3763440"/>
            <a:ext cx="5339160" cy="7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pt-BR" sz="2000" spc="-1" strike="noStrike">
                <a:solidFill>
                  <a:srgbClr val="004c99"/>
                </a:solidFill>
                <a:latin typeface="Arial"/>
              </a:rPr>
              <a:t>Kauã Santana da Silva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pt-BR" sz="2000" spc="-1" strike="noStrike">
                <a:solidFill>
                  <a:srgbClr val="004c99"/>
                </a:solidFill>
                <a:latin typeface="Arial"/>
              </a:rPr>
              <a:t>Prof. Dr. Alexandre Garcia de Oliveira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Box 7"/>
          <p:cNvSpPr/>
          <p:nvPr/>
        </p:nvSpPr>
        <p:spPr>
          <a:xfrm>
            <a:off x="644400" y="5301720"/>
            <a:ext cx="51793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pt-BR" sz="1800" spc="-1" strike="noStrike">
                <a:solidFill>
                  <a:srgbClr val="228b22"/>
                </a:solidFill>
                <a:latin typeface="Arial"/>
              </a:rPr>
              <a:t>FATEC Baixada Santista Rubens Lara • Ciência de Dados • Santos/SP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Box 8"/>
          <p:cNvSpPr/>
          <p:nvPr/>
        </p:nvSpPr>
        <p:spPr>
          <a:xfrm>
            <a:off x="677880" y="5951520"/>
            <a:ext cx="6928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pt-BR" sz="1800" spc="-1" strike="noStrike">
                <a:solidFill>
                  <a:srgbClr val="ff8c00"/>
                </a:solidFill>
                <a:latin typeface="Arial"/>
              </a:rPr>
              <a:t>I Simpósio de Ciência de Dados das Fatecs • Santos/SP • 2026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8" name="Picture 10" descr="LOGO-SP-PT-HORIZONTAL.png"/>
          <p:cNvPicPr/>
          <p:nvPr/>
        </p:nvPicPr>
        <p:blipFill>
          <a:blip r:embed="rId2"/>
          <a:stretch/>
        </p:blipFill>
        <p:spPr>
          <a:xfrm>
            <a:off x="68760" y="127440"/>
            <a:ext cx="3709800" cy="1518120"/>
          </a:xfrm>
          <a:prstGeom prst="rect">
            <a:avLst/>
          </a:prstGeom>
          <a:ln w="0">
            <a:noFill/>
          </a:ln>
        </p:spPr>
      </p:pic>
      <p:pic>
        <p:nvPicPr>
          <p:cNvPr id="59" name="Picture 11" descr="fatec_ra_baixada_santista_baixada_santista_rubens_lara_cor.png"/>
          <p:cNvPicPr/>
          <p:nvPr/>
        </p:nvPicPr>
        <p:blipFill>
          <a:blip r:embed="rId3"/>
          <a:stretch/>
        </p:blipFill>
        <p:spPr>
          <a:xfrm>
            <a:off x="5984640" y="487800"/>
            <a:ext cx="2276640" cy="1199160"/>
          </a:xfrm>
          <a:prstGeom prst="rect">
            <a:avLst/>
          </a:prstGeom>
          <a:ln w="0">
            <a:noFill/>
          </a:ln>
        </p:spPr>
      </p:pic>
      <p:pic>
        <p:nvPicPr>
          <p:cNvPr id="60" name="Graphic 13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3847680" y="378360"/>
            <a:ext cx="1512360" cy="996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88160" cy="22788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0" y="6656760"/>
            <a:ext cx="12188160" cy="200520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3" name="Rectangle 3"/>
          <p:cNvSpPr/>
          <p:nvPr/>
        </p:nvSpPr>
        <p:spPr>
          <a:xfrm>
            <a:off x="0" y="228600"/>
            <a:ext cx="136440" cy="640008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895680" y="457200"/>
            <a:ext cx="15998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00285a"/>
                </a:solidFill>
                <a:latin typeface="Arial"/>
              </a:rPr>
              <a:t>Sumário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Box 7"/>
          <p:cNvSpPr/>
          <p:nvPr/>
        </p:nvSpPr>
        <p:spPr>
          <a:xfrm>
            <a:off x="1038600" y="864000"/>
            <a:ext cx="7061040" cy="490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200000"/>
              </a:lnSpc>
            </a:pPr>
            <a:r>
              <a:rPr b="0" lang="en-US" sz="2600" spc="-1" strike="noStrike">
                <a:solidFill>
                  <a:srgbClr val="00285a"/>
                </a:solidFill>
                <a:latin typeface="Arial"/>
              </a:rPr>
              <a:t>1. Motivação</a:t>
            </a:r>
            <a:br>
              <a:rPr sz="2600"/>
            </a:b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600" spc="-1" strike="noStrike">
                <a:solidFill>
                  <a:srgbClr val="00285a"/>
                </a:solidFill>
                <a:latin typeface="Arial"/>
                <a:ea typeface="Noto Sans CJK SC"/>
              </a:rPr>
              <a:t>2. </a:t>
            </a:r>
            <a:r>
              <a:rPr b="0" lang="en-US" sz="2600" spc="-1" strike="noStrike">
                <a:solidFill>
                  <a:srgbClr val="00285a"/>
                </a:solidFill>
                <a:latin typeface="Arial"/>
              </a:rPr>
              <a:t>Categoria Learn, morfismos e composição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800" spc="-1" strike="noStrike">
                <a:solidFill>
                  <a:srgbClr val="00285a"/>
                </a:solidFill>
                <a:latin typeface="Arial"/>
                <a:ea typeface="Noto Sans CJK SC"/>
              </a:rPr>
              <a:t>3. </a:t>
            </a:r>
            <a:r>
              <a:rPr b="0" lang="en-US" sz="2600" spc="-1" strike="noStrike">
                <a:solidFill>
                  <a:srgbClr val="00285a"/>
                </a:solidFill>
                <a:latin typeface="Arial"/>
                <a:ea typeface="Noto Sans CJK SC"/>
              </a:rPr>
              <a:t>O funtor </a:t>
            </a:r>
            <a:r>
              <a:rPr b="0" lang="en-US" sz="2800" spc="-1" strike="noStrike">
                <a:solidFill>
                  <a:srgbClr val="00285a"/>
                </a:solidFill>
                <a:latin typeface="MathJax_Caligraphic"/>
                <a:ea typeface="MathJax_Caligraphic"/>
              </a:rPr>
              <a:t>L</a:t>
            </a:r>
            <a:br>
              <a:rPr sz="2600"/>
            </a:b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600" spc="-1" strike="noStrike">
                <a:solidFill>
                  <a:srgbClr val="00285a"/>
                </a:solidFill>
                <a:latin typeface="Arial"/>
              </a:rPr>
              <a:t>3. Implementação em Haskell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  <a:p>
            <a:br>
              <a:rPr sz="2600"/>
            </a:br>
            <a:r>
              <a:rPr b="0" lang="en-US" sz="2600" spc="-1" strike="noStrike">
                <a:solidFill>
                  <a:srgbClr val="00285a"/>
                </a:solidFill>
                <a:latin typeface="Arial"/>
              </a:rPr>
              <a:t>4. Modelos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  <a:p>
            <a:br>
              <a:rPr sz="2600"/>
            </a:br>
            <a:r>
              <a:rPr b="0" lang="en-US" sz="2600" spc="-1" strike="noStrike">
                <a:solidFill>
                  <a:srgbClr val="00285a"/>
                </a:solidFill>
                <a:latin typeface="Arial"/>
              </a:rPr>
              <a:t>5. Conclusões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6" name="Picture 10" descr="logo_simposio_autalizado copy.png"/>
          <p:cNvPicPr/>
          <p:nvPr/>
        </p:nvPicPr>
        <p:blipFill>
          <a:blip r:embed="rId1"/>
          <a:stretch/>
        </p:blipFill>
        <p:spPr>
          <a:xfrm>
            <a:off x="8349480" y="376200"/>
            <a:ext cx="3838680" cy="2554560"/>
          </a:xfrm>
          <a:prstGeom prst="rect">
            <a:avLst/>
          </a:prstGeom>
          <a:ln w="0">
            <a:noFill/>
          </a:ln>
        </p:spPr>
      </p:pic>
      <p:pic>
        <p:nvPicPr>
          <p:cNvPr id="67" name="Picture 11" descr="fatec_ra_baixada_santista_baixada_santista_rubens_lara_cor.png"/>
          <p:cNvPicPr/>
          <p:nvPr/>
        </p:nvPicPr>
        <p:blipFill>
          <a:blip r:embed="rId2"/>
          <a:stretch/>
        </p:blipFill>
        <p:spPr>
          <a:xfrm>
            <a:off x="9533160" y="3079080"/>
            <a:ext cx="2513880" cy="1324080"/>
          </a:xfrm>
          <a:prstGeom prst="rect">
            <a:avLst/>
          </a:prstGeom>
          <a:ln w="0">
            <a:noFill/>
          </a:ln>
        </p:spPr>
      </p:pic>
      <p:pic>
        <p:nvPicPr>
          <p:cNvPr id="68" name="Picture 12" descr="LOGO-SP-PT-HORIZONTAL.png"/>
          <p:cNvPicPr/>
          <p:nvPr/>
        </p:nvPicPr>
        <p:blipFill>
          <a:blip r:embed="rId3"/>
          <a:stretch/>
        </p:blipFill>
        <p:spPr>
          <a:xfrm>
            <a:off x="8718120" y="5294520"/>
            <a:ext cx="3709800" cy="1518120"/>
          </a:xfrm>
          <a:prstGeom prst="rect">
            <a:avLst/>
          </a:prstGeom>
          <a:ln w="0">
            <a:noFill/>
          </a:ln>
        </p:spPr>
      </p:pic>
      <p:pic>
        <p:nvPicPr>
          <p:cNvPr id="69" name="Graphic 13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223280" y="4479120"/>
            <a:ext cx="1667880" cy="1099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1"/>
          <p:cNvSpPr/>
          <p:nvPr/>
        </p:nvSpPr>
        <p:spPr>
          <a:xfrm>
            <a:off x="0" y="0"/>
            <a:ext cx="12188160" cy="22788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" name="Rectangle 2"/>
          <p:cNvSpPr/>
          <p:nvPr/>
        </p:nvSpPr>
        <p:spPr>
          <a:xfrm>
            <a:off x="0" y="6656760"/>
            <a:ext cx="12188160" cy="200520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" name="Rectangle 3"/>
          <p:cNvSpPr/>
          <p:nvPr/>
        </p:nvSpPr>
        <p:spPr>
          <a:xfrm>
            <a:off x="0" y="228600"/>
            <a:ext cx="136440" cy="640008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" name="Rounded Rectangle 6"/>
          <p:cNvSpPr/>
          <p:nvPr/>
        </p:nvSpPr>
        <p:spPr>
          <a:xfrm>
            <a:off x="640080" y="1280160"/>
            <a:ext cx="9027720" cy="4730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004c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4" name="TextBox 7"/>
          <p:cNvSpPr/>
          <p:nvPr/>
        </p:nvSpPr>
        <p:spPr>
          <a:xfrm>
            <a:off x="914400" y="1645920"/>
            <a:ext cx="7958880" cy="20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5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5" name="Picture 12" descr="logo_simposio_autalizado copy.png"/>
          <p:cNvPicPr/>
          <p:nvPr/>
        </p:nvPicPr>
        <p:blipFill>
          <a:blip r:embed="rId1"/>
          <a:stretch/>
        </p:blipFill>
        <p:spPr>
          <a:xfrm>
            <a:off x="10013760" y="330480"/>
            <a:ext cx="2136600" cy="1421640"/>
          </a:xfrm>
          <a:prstGeom prst="rect">
            <a:avLst/>
          </a:prstGeom>
          <a:ln w="0">
            <a:noFill/>
          </a:ln>
        </p:spPr>
      </p:pic>
      <p:pic>
        <p:nvPicPr>
          <p:cNvPr id="76" name="Picture 14" descr="LOGO-SP-PT-HORIZONTAL.png"/>
          <p:cNvPicPr/>
          <p:nvPr/>
        </p:nvPicPr>
        <p:blipFill>
          <a:blip r:embed="rId2"/>
          <a:stretch/>
        </p:blipFill>
        <p:spPr>
          <a:xfrm>
            <a:off x="9668520" y="5452200"/>
            <a:ext cx="2626560" cy="1074600"/>
          </a:xfrm>
          <a:prstGeom prst="rect">
            <a:avLst/>
          </a:prstGeom>
          <a:ln w="0">
            <a:noFill/>
          </a:ln>
        </p:spPr>
      </p:pic>
      <p:pic>
        <p:nvPicPr>
          <p:cNvPr id="77" name="Picture 15" descr="fatec_ra_baixada_santista_baixada_santista_rubens_lara_cor.png"/>
          <p:cNvPicPr/>
          <p:nvPr/>
        </p:nvPicPr>
        <p:blipFill>
          <a:blip r:embed="rId3"/>
          <a:stretch/>
        </p:blipFill>
        <p:spPr>
          <a:xfrm>
            <a:off x="10118880" y="2329560"/>
            <a:ext cx="2031120" cy="1069920"/>
          </a:xfrm>
          <a:prstGeom prst="rect">
            <a:avLst/>
          </a:prstGeom>
          <a:ln w="0">
            <a:noFill/>
          </a:ln>
        </p:spPr>
      </p:pic>
      <p:pic>
        <p:nvPicPr>
          <p:cNvPr id="78" name="Graphic 16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577160" y="3787560"/>
            <a:ext cx="1393920" cy="1043280"/>
          </a:xfrm>
          <a:prstGeom prst="rect">
            <a:avLst/>
          </a:prstGeom>
          <a:ln w="0">
            <a:noFill/>
          </a:ln>
        </p:spPr>
      </p:pic>
      <p:pic>
        <p:nvPicPr>
          <p:cNvPr id="79" name="" descr=""/>
          <p:cNvPicPr/>
          <p:nvPr/>
        </p:nvPicPr>
        <p:blipFill>
          <a:blip r:embed="rId6"/>
          <a:stretch/>
        </p:blipFill>
        <p:spPr>
          <a:xfrm>
            <a:off x="900000" y="2160000"/>
            <a:ext cx="8565120" cy="3144600"/>
          </a:xfrm>
          <a:prstGeom prst="rect">
            <a:avLst/>
          </a:prstGeom>
          <a:ln w="0">
            <a:noFill/>
          </a:ln>
        </p:spPr>
      </p:pic>
      <p:sp>
        <p:nvSpPr>
          <p:cNvPr id="80" name="TextBox 13"/>
          <p:cNvSpPr/>
          <p:nvPr/>
        </p:nvSpPr>
        <p:spPr>
          <a:xfrm>
            <a:off x="3251520" y="457200"/>
            <a:ext cx="19155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2800" spc="-1" strike="noStrike">
                <a:solidFill>
                  <a:srgbClr val="00285a"/>
                </a:solidFill>
                <a:latin typeface="Arial"/>
              </a:rPr>
              <a:t>Motivação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1"/>
          <p:cNvSpPr/>
          <p:nvPr/>
        </p:nvSpPr>
        <p:spPr>
          <a:xfrm>
            <a:off x="0" y="0"/>
            <a:ext cx="12188160" cy="22788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" name="Rectangle 2"/>
          <p:cNvSpPr/>
          <p:nvPr/>
        </p:nvSpPr>
        <p:spPr>
          <a:xfrm>
            <a:off x="0" y="6656760"/>
            <a:ext cx="12188160" cy="200520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3" name="Rectangle 3"/>
          <p:cNvSpPr/>
          <p:nvPr/>
        </p:nvSpPr>
        <p:spPr>
          <a:xfrm>
            <a:off x="0" y="228600"/>
            <a:ext cx="136440" cy="640008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" name="TextBox 4"/>
          <p:cNvSpPr/>
          <p:nvPr/>
        </p:nvSpPr>
        <p:spPr>
          <a:xfrm>
            <a:off x="917640" y="720000"/>
            <a:ext cx="73623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00285a"/>
                </a:solidFill>
                <a:latin typeface="Arial"/>
              </a:rPr>
              <a:t>Categoria Learn, morfismos e composição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Rounded Rectangle 6"/>
          <p:cNvSpPr/>
          <p:nvPr/>
        </p:nvSpPr>
        <p:spPr>
          <a:xfrm>
            <a:off x="548640" y="1411560"/>
            <a:ext cx="9119160" cy="4479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004c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86" name="Picture 13" descr="logo_simposio_autalizado copy.png"/>
          <p:cNvPicPr/>
          <p:nvPr/>
        </p:nvPicPr>
        <p:blipFill>
          <a:blip r:embed="rId1"/>
          <a:stretch/>
        </p:blipFill>
        <p:spPr>
          <a:xfrm>
            <a:off x="10013760" y="330480"/>
            <a:ext cx="2136600" cy="1421640"/>
          </a:xfrm>
          <a:prstGeom prst="rect">
            <a:avLst/>
          </a:prstGeom>
          <a:ln w="0">
            <a:noFill/>
          </a:ln>
        </p:spPr>
      </p:pic>
      <p:pic>
        <p:nvPicPr>
          <p:cNvPr id="87" name="Picture 14" descr="fatec_ra_baixada_santista_baixada_santista_rubens_lara_cor.png"/>
          <p:cNvPicPr/>
          <p:nvPr/>
        </p:nvPicPr>
        <p:blipFill>
          <a:blip r:embed="rId2"/>
          <a:stretch/>
        </p:blipFill>
        <p:spPr>
          <a:xfrm>
            <a:off x="10118880" y="2329560"/>
            <a:ext cx="2031120" cy="1069920"/>
          </a:xfrm>
          <a:prstGeom prst="rect">
            <a:avLst/>
          </a:prstGeom>
          <a:ln w="0">
            <a:noFill/>
          </a:ln>
        </p:spPr>
      </p:pic>
      <p:pic>
        <p:nvPicPr>
          <p:cNvPr id="88" name="Graphic 15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0577160" y="3787560"/>
            <a:ext cx="1393920" cy="1043280"/>
          </a:xfrm>
          <a:prstGeom prst="rect">
            <a:avLst/>
          </a:prstGeom>
          <a:ln w="0">
            <a:noFill/>
          </a:ln>
        </p:spPr>
      </p:pic>
      <p:pic>
        <p:nvPicPr>
          <p:cNvPr id="89" name="Picture 16" descr="LOGO-SP-PT-HORIZONTAL.png"/>
          <p:cNvPicPr/>
          <p:nvPr/>
        </p:nvPicPr>
        <p:blipFill>
          <a:blip r:embed="rId5"/>
          <a:stretch/>
        </p:blipFill>
        <p:spPr>
          <a:xfrm>
            <a:off x="9668520" y="5452200"/>
            <a:ext cx="2626560" cy="1074600"/>
          </a:xfrm>
          <a:prstGeom prst="rect">
            <a:avLst/>
          </a:prstGeom>
          <a:ln w="0">
            <a:noFill/>
          </a:ln>
        </p:spPr>
      </p:pic>
      <p:pic>
        <p:nvPicPr>
          <p:cNvPr id="90" name="" descr=""/>
          <p:cNvPicPr/>
          <p:nvPr/>
        </p:nvPicPr>
        <p:blipFill>
          <a:blip r:embed="rId6"/>
          <a:stretch/>
        </p:blipFill>
        <p:spPr>
          <a:xfrm>
            <a:off x="1032480" y="1620000"/>
            <a:ext cx="8078760" cy="395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7"/>
          <p:cNvSpPr/>
          <p:nvPr/>
        </p:nvSpPr>
        <p:spPr>
          <a:xfrm>
            <a:off x="0" y="0"/>
            <a:ext cx="12188160" cy="22788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" name="Rectangle 8"/>
          <p:cNvSpPr/>
          <p:nvPr/>
        </p:nvSpPr>
        <p:spPr>
          <a:xfrm>
            <a:off x="0" y="6656760"/>
            <a:ext cx="12188160" cy="200520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3" name="Rectangle 9"/>
          <p:cNvSpPr/>
          <p:nvPr/>
        </p:nvSpPr>
        <p:spPr>
          <a:xfrm>
            <a:off x="0" y="228600"/>
            <a:ext cx="136440" cy="640008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4" name="TextBox 2"/>
          <p:cNvSpPr/>
          <p:nvPr/>
        </p:nvSpPr>
        <p:spPr>
          <a:xfrm>
            <a:off x="3230280" y="457200"/>
            <a:ext cx="19566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2800" spc="-1" strike="noStrike">
                <a:solidFill>
                  <a:srgbClr val="00285a"/>
                </a:solidFill>
                <a:latin typeface="Arial"/>
              </a:rPr>
              <a:t>O funtor </a:t>
            </a:r>
            <a:r>
              <a:rPr b="1" lang="en-US" sz="2800" spc="-1" strike="noStrike">
                <a:solidFill>
                  <a:srgbClr val="00285a"/>
                </a:solidFill>
                <a:latin typeface="MathJax_Caligraphic"/>
                <a:ea typeface="MathJax_Caligraphic"/>
              </a:rPr>
              <a:t>L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Rounded Rectangle 2"/>
          <p:cNvSpPr/>
          <p:nvPr/>
        </p:nvSpPr>
        <p:spPr>
          <a:xfrm>
            <a:off x="548640" y="1280160"/>
            <a:ext cx="9344160" cy="4957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004c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96" name="Picture 6" descr="logo_simposio_autalizado copy.png"/>
          <p:cNvPicPr/>
          <p:nvPr/>
        </p:nvPicPr>
        <p:blipFill>
          <a:blip r:embed="rId1"/>
          <a:stretch/>
        </p:blipFill>
        <p:spPr>
          <a:xfrm>
            <a:off x="10013760" y="330480"/>
            <a:ext cx="2136600" cy="1421640"/>
          </a:xfrm>
          <a:prstGeom prst="rect">
            <a:avLst/>
          </a:prstGeom>
          <a:ln w="0">
            <a:noFill/>
          </a:ln>
        </p:spPr>
      </p:pic>
      <p:pic>
        <p:nvPicPr>
          <p:cNvPr id="97" name="Picture 7" descr="fatec_ra_baixada_santista_baixada_santista_rubens_lara_cor.png"/>
          <p:cNvPicPr/>
          <p:nvPr/>
        </p:nvPicPr>
        <p:blipFill>
          <a:blip r:embed="rId2"/>
          <a:stretch/>
        </p:blipFill>
        <p:spPr>
          <a:xfrm>
            <a:off x="10118880" y="2329560"/>
            <a:ext cx="2031120" cy="1069920"/>
          </a:xfrm>
          <a:prstGeom prst="rect">
            <a:avLst/>
          </a:prstGeom>
          <a:ln w="0">
            <a:noFill/>
          </a:ln>
        </p:spPr>
      </p:pic>
      <p:pic>
        <p:nvPicPr>
          <p:cNvPr id="98" name="Graphic 2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0577160" y="3787560"/>
            <a:ext cx="1393920" cy="1043280"/>
          </a:xfrm>
          <a:prstGeom prst="rect">
            <a:avLst/>
          </a:prstGeom>
          <a:ln w="0">
            <a:noFill/>
          </a:ln>
        </p:spPr>
      </p:pic>
      <p:pic>
        <p:nvPicPr>
          <p:cNvPr id="99" name="Picture 8" descr="LOGO-SP-PT-HORIZONTAL.png"/>
          <p:cNvPicPr/>
          <p:nvPr/>
        </p:nvPicPr>
        <p:blipFill>
          <a:blip r:embed="rId5"/>
          <a:stretch/>
        </p:blipFill>
        <p:spPr>
          <a:xfrm>
            <a:off x="9668520" y="5452200"/>
            <a:ext cx="2626560" cy="1074600"/>
          </a:xfrm>
          <a:prstGeom prst="rect">
            <a:avLst/>
          </a:prstGeom>
          <a:ln w="0">
            <a:noFill/>
          </a:ln>
        </p:spPr>
      </p:pic>
      <p:pic>
        <p:nvPicPr>
          <p:cNvPr id="100" name="" descr=""/>
          <p:cNvPicPr/>
          <p:nvPr/>
        </p:nvPicPr>
        <p:blipFill>
          <a:blip r:embed="rId6"/>
          <a:stretch/>
        </p:blipFill>
        <p:spPr>
          <a:xfrm>
            <a:off x="848520" y="1800000"/>
            <a:ext cx="8819640" cy="4081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"/>
          <p:cNvSpPr/>
          <p:nvPr/>
        </p:nvSpPr>
        <p:spPr>
          <a:xfrm>
            <a:off x="0" y="0"/>
            <a:ext cx="12188160" cy="22788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" name="Rectangle 11"/>
          <p:cNvSpPr/>
          <p:nvPr/>
        </p:nvSpPr>
        <p:spPr>
          <a:xfrm>
            <a:off x="0" y="6656760"/>
            <a:ext cx="12188160" cy="200520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" name="Rectangle 12"/>
          <p:cNvSpPr/>
          <p:nvPr/>
        </p:nvSpPr>
        <p:spPr>
          <a:xfrm>
            <a:off x="0" y="228600"/>
            <a:ext cx="136440" cy="640008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" name="TextBox 3"/>
          <p:cNvSpPr/>
          <p:nvPr/>
        </p:nvSpPr>
        <p:spPr>
          <a:xfrm>
            <a:off x="1850760" y="457200"/>
            <a:ext cx="47181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2800" spc="-1" strike="noStrike">
                <a:solidFill>
                  <a:srgbClr val="00285a"/>
                </a:solidFill>
                <a:latin typeface="Arial"/>
              </a:rPr>
              <a:t>Implementação em Haskell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Rounded Rectangle 3"/>
          <p:cNvSpPr/>
          <p:nvPr/>
        </p:nvSpPr>
        <p:spPr>
          <a:xfrm>
            <a:off x="548640" y="1280160"/>
            <a:ext cx="9344160" cy="4957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004c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06" name="Picture 9" descr="logo_simposio_autalizado copy.png"/>
          <p:cNvPicPr/>
          <p:nvPr/>
        </p:nvPicPr>
        <p:blipFill>
          <a:blip r:embed="rId1"/>
          <a:stretch/>
        </p:blipFill>
        <p:spPr>
          <a:xfrm>
            <a:off x="10013760" y="330480"/>
            <a:ext cx="2136600" cy="1421640"/>
          </a:xfrm>
          <a:prstGeom prst="rect">
            <a:avLst/>
          </a:prstGeom>
          <a:ln w="0">
            <a:noFill/>
          </a:ln>
        </p:spPr>
      </p:pic>
      <p:pic>
        <p:nvPicPr>
          <p:cNvPr id="107" name="Picture 18" descr="fatec_ra_baixada_santista_baixada_santista_rubens_lara_cor.png"/>
          <p:cNvPicPr/>
          <p:nvPr/>
        </p:nvPicPr>
        <p:blipFill>
          <a:blip r:embed="rId2"/>
          <a:stretch/>
        </p:blipFill>
        <p:spPr>
          <a:xfrm>
            <a:off x="10118880" y="2329560"/>
            <a:ext cx="2031120" cy="1069920"/>
          </a:xfrm>
          <a:prstGeom prst="rect">
            <a:avLst/>
          </a:prstGeom>
          <a:ln w="0">
            <a:noFill/>
          </a:ln>
        </p:spPr>
      </p:pic>
      <p:pic>
        <p:nvPicPr>
          <p:cNvPr id="108" name="Graphic 3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0577160" y="3787560"/>
            <a:ext cx="1393920" cy="1043280"/>
          </a:xfrm>
          <a:prstGeom prst="rect">
            <a:avLst/>
          </a:prstGeom>
          <a:ln w="0">
            <a:noFill/>
          </a:ln>
        </p:spPr>
      </p:pic>
      <p:pic>
        <p:nvPicPr>
          <p:cNvPr id="109" name="Picture 19" descr="LOGO-SP-PT-HORIZONTAL.png"/>
          <p:cNvPicPr/>
          <p:nvPr/>
        </p:nvPicPr>
        <p:blipFill>
          <a:blip r:embed="rId5"/>
          <a:stretch/>
        </p:blipFill>
        <p:spPr>
          <a:xfrm>
            <a:off x="9668520" y="5452200"/>
            <a:ext cx="2626560" cy="1074600"/>
          </a:xfrm>
          <a:prstGeom prst="rect">
            <a:avLst/>
          </a:prstGeom>
          <a:ln w="0">
            <a:noFill/>
          </a:ln>
        </p:spPr>
      </p:pic>
      <p:pic>
        <p:nvPicPr>
          <p:cNvPr id="110" name="" descr=""/>
          <p:cNvPicPr/>
          <p:nvPr/>
        </p:nvPicPr>
        <p:blipFill>
          <a:blip r:embed="rId6"/>
          <a:stretch/>
        </p:blipFill>
        <p:spPr>
          <a:xfrm>
            <a:off x="676080" y="1836000"/>
            <a:ext cx="9043560" cy="3913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ctangle 4"/>
          <p:cNvSpPr/>
          <p:nvPr/>
        </p:nvSpPr>
        <p:spPr>
          <a:xfrm>
            <a:off x="0" y="0"/>
            <a:ext cx="12188160" cy="22788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2" name="Rectangle 5"/>
          <p:cNvSpPr/>
          <p:nvPr/>
        </p:nvSpPr>
        <p:spPr>
          <a:xfrm>
            <a:off x="0" y="6656760"/>
            <a:ext cx="12188160" cy="200520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3" name="Rectangle 6"/>
          <p:cNvSpPr/>
          <p:nvPr/>
        </p:nvSpPr>
        <p:spPr>
          <a:xfrm>
            <a:off x="0" y="228600"/>
            <a:ext cx="136440" cy="640008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4" name="TextBox 1"/>
          <p:cNvSpPr/>
          <p:nvPr/>
        </p:nvSpPr>
        <p:spPr>
          <a:xfrm>
            <a:off x="1850760" y="457200"/>
            <a:ext cx="47181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2800" spc="-1" strike="noStrike">
                <a:solidFill>
                  <a:srgbClr val="00285a"/>
                </a:solidFill>
                <a:latin typeface="Arial"/>
              </a:rPr>
              <a:t>Implementação em Haskell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Rounded Rectangle 1"/>
          <p:cNvSpPr/>
          <p:nvPr/>
        </p:nvSpPr>
        <p:spPr>
          <a:xfrm>
            <a:off x="548640" y="1280160"/>
            <a:ext cx="9344160" cy="4957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004c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16" name="Picture 1" descr="logo_simposio_autalizado copy.png"/>
          <p:cNvPicPr/>
          <p:nvPr/>
        </p:nvPicPr>
        <p:blipFill>
          <a:blip r:embed="rId1"/>
          <a:stretch/>
        </p:blipFill>
        <p:spPr>
          <a:xfrm>
            <a:off x="10013760" y="330480"/>
            <a:ext cx="2136600" cy="1421640"/>
          </a:xfrm>
          <a:prstGeom prst="rect">
            <a:avLst/>
          </a:prstGeom>
          <a:ln w="0">
            <a:noFill/>
          </a:ln>
        </p:spPr>
      </p:pic>
      <p:pic>
        <p:nvPicPr>
          <p:cNvPr id="117" name="Picture 2" descr="fatec_ra_baixada_santista_baixada_santista_rubens_lara_cor.png"/>
          <p:cNvPicPr/>
          <p:nvPr/>
        </p:nvPicPr>
        <p:blipFill>
          <a:blip r:embed="rId2"/>
          <a:stretch/>
        </p:blipFill>
        <p:spPr>
          <a:xfrm>
            <a:off x="10118880" y="2329560"/>
            <a:ext cx="2031120" cy="1069920"/>
          </a:xfrm>
          <a:prstGeom prst="rect">
            <a:avLst/>
          </a:prstGeom>
          <a:ln w="0">
            <a:noFill/>
          </a:ln>
        </p:spPr>
      </p:pic>
      <p:pic>
        <p:nvPicPr>
          <p:cNvPr id="118" name="Graphic 1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0577160" y="3787560"/>
            <a:ext cx="1393920" cy="1043280"/>
          </a:xfrm>
          <a:prstGeom prst="rect">
            <a:avLst/>
          </a:prstGeom>
          <a:ln w="0">
            <a:noFill/>
          </a:ln>
        </p:spPr>
      </p:pic>
      <p:pic>
        <p:nvPicPr>
          <p:cNvPr id="119" name="Picture 3" descr="LOGO-SP-PT-HORIZONTAL.png"/>
          <p:cNvPicPr/>
          <p:nvPr/>
        </p:nvPicPr>
        <p:blipFill>
          <a:blip r:embed="rId5"/>
          <a:stretch/>
        </p:blipFill>
        <p:spPr>
          <a:xfrm>
            <a:off x="9668520" y="5452200"/>
            <a:ext cx="2626560" cy="1074600"/>
          </a:xfrm>
          <a:prstGeom prst="rect">
            <a:avLst/>
          </a:prstGeom>
          <a:ln w="0">
            <a:noFill/>
          </a:ln>
        </p:spPr>
      </p:pic>
      <p:pic>
        <p:nvPicPr>
          <p:cNvPr id="120" name="" descr=""/>
          <p:cNvPicPr/>
          <p:nvPr/>
        </p:nvPicPr>
        <p:blipFill>
          <a:blip r:embed="rId6"/>
          <a:stretch/>
        </p:blipFill>
        <p:spPr>
          <a:xfrm>
            <a:off x="720000" y="2215440"/>
            <a:ext cx="8999640" cy="3198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 13"/>
          <p:cNvSpPr/>
          <p:nvPr/>
        </p:nvSpPr>
        <p:spPr>
          <a:xfrm>
            <a:off x="0" y="0"/>
            <a:ext cx="12188160" cy="22788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2" name="Rectangle 14"/>
          <p:cNvSpPr/>
          <p:nvPr/>
        </p:nvSpPr>
        <p:spPr>
          <a:xfrm>
            <a:off x="0" y="6656760"/>
            <a:ext cx="12188160" cy="200520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3" name="Rectangle 15"/>
          <p:cNvSpPr/>
          <p:nvPr/>
        </p:nvSpPr>
        <p:spPr>
          <a:xfrm>
            <a:off x="0" y="228600"/>
            <a:ext cx="136440" cy="640008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4" name="TextBox 9"/>
          <p:cNvSpPr/>
          <p:nvPr/>
        </p:nvSpPr>
        <p:spPr>
          <a:xfrm>
            <a:off x="1014840" y="457200"/>
            <a:ext cx="63946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2800" spc="-1" strike="noStrike">
                <a:solidFill>
                  <a:srgbClr val="00285a"/>
                </a:solidFill>
                <a:latin typeface="Arial"/>
              </a:rPr>
              <a:t>Modelos – Regressor Linear Simples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Rounded Rectangle 4"/>
          <p:cNvSpPr/>
          <p:nvPr/>
        </p:nvSpPr>
        <p:spPr>
          <a:xfrm>
            <a:off x="548640" y="1280160"/>
            <a:ext cx="9344160" cy="4957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004c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26" name="Picture 20" descr="logo_simposio_autalizado copy.png"/>
          <p:cNvPicPr/>
          <p:nvPr/>
        </p:nvPicPr>
        <p:blipFill>
          <a:blip r:embed="rId1"/>
          <a:stretch/>
        </p:blipFill>
        <p:spPr>
          <a:xfrm>
            <a:off x="10013760" y="330480"/>
            <a:ext cx="2136600" cy="1421640"/>
          </a:xfrm>
          <a:prstGeom prst="rect">
            <a:avLst/>
          </a:prstGeom>
          <a:ln w="0">
            <a:noFill/>
          </a:ln>
        </p:spPr>
      </p:pic>
      <p:pic>
        <p:nvPicPr>
          <p:cNvPr id="127" name="Picture 21" descr="fatec_ra_baixada_santista_baixada_santista_rubens_lara_cor.png"/>
          <p:cNvPicPr/>
          <p:nvPr/>
        </p:nvPicPr>
        <p:blipFill>
          <a:blip r:embed="rId2"/>
          <a:stretch/>
        </p:blipFill>
        <p:spPr>
          <a:xfrm>
            <a:off x="10118880" y="2329560"/>
            <a:ext cx="2031120" cy="1069920"/>
          </a:xfrm>
          <a:prstGeom prst="rect">
            <a:avLst/>
          </a:prstGeom>
          <a:ln w="0">
            <a:noFill/>
          </a:ln>
        </p:spPr>
      </p:pic>
      <p:pic>
        <p:nvPicPr>
          <p:cNvPr id="128" name="Graphic 4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0577160" y="3787560"/>
            <a:ext cx="1393920" cy="1043280"/>
          </a:xfrm>
          <a:prstGeom prst="rect">
            <a:avLst/>
          </a:prstGeom>
          <a:ln w="0">
            <a:noFill/>
          </a:ln>
        </p:spPr>
      </p:pic>
      <p:pic>
        <p:nvPicPr>
          <p:cNvPr id="129" name="Picture 22" descr="LOGO-SP-PT-HORIZONTAL.png"/>
          <p:cNvPicPr/>
          <p:nvPr/>
        </p:nvPicPr>
        <p:blipFill>
          <a:blip r:embed="rId5"/>
          <a:stretch/>
        </p:blipFill>
        <p:spPr>
          <a:xfrm>
            <a:off x="9668520" y="5452200"/>
            <a:ext cx="2626560" cy="1074600"/>
          </a:xfrm>
          <a:prstGeom prst="rect">
            <a:avLst/>
          </a:prstGeom>
          <a:ln w="0">
            <a:noFill/>
          </a:ln>
        </p:spPr>
      </p:pic>
      <p:pic>
        <p:nvPicPr>
          <p:cNvPr id="130" name="" descr=""/>
          <p:cNvPicPr/>
          <p:nvPr/>
        </p:nvPicPr>
        <p:blipFill>
          <a:blip r:embed="rId6"/>
          <a:stretch/>
        </p:blipFill>
        <p:spPr>
          <a:xfrm>
            <a:off x="892800" y="1620000"/>
            <a:ext cx="8646840" cy="4240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16"/>
          <p:cNvSpPr/>
          <p:nvPr/>
        </p:nvSpPr>
        <p:spPr>
          <a:xfrm>
            <a:off x="0" y="0"/>
            <a:ext cx="12188160" cy="22788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2" name="Rectangle 17"/>
          <p:cNvSpPr/>
          <p:nvPr/>
        </p:nvSpPr>
        <p:spPr>
          <a:xfrm>
            <a:off x="0" y="6656760"/>
            <a:ext cx="12188160" cy="200520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3" name="Rectangle 18"/>
          <p:cNvSpPr/>
          <p:nvPr/>
        </p:nvSpPr>
        <p:spPr>
          <a:xfrm>
            <a:off x="0" y="228600"/>
            <a:ext cx="136440" cy="640008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4" name="TextBox 12"/>
          <p:cNvSpPr/>
          <p:nvPr/>
        </p:nvSpPr>
        <p:spPr>
          <a:xfrm>
            <a:off x="1014840" y="457200"/>
            <a:ext cx="63946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2800" spc="-1" strike="noStrike">
                <a:solidFill>
                  <a:srgbClr val="00285a"/>
                </a:solidFill>
                <a:latin typeface="Arial"/>
              </a:rPr>
              <a:t>Modelos – Regressor Linear Simples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Rounded Rectangle 5"/>
          <p:cNvSpPr/>
          <p:nvPr/>
        </p:nvSpPr>
        <p:spPr>
          <a:xfrm>
            <a:off x="548640" y="1280160"/>
            <a:ext cx="9344160" cy="4957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004c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36" name="Picture 23" descr="logo_simposio_autalizado copy.png"/>
          <p:cNvPicPr/>
          <p:nvPr/>
        </p:nvPicPr>
        <p:blipFill>
          <a:blip r:embed="rId1"/>
          <a:stretch/>
        </p:blipFill>
        <p:spPr>
          <a:xfrm>
            <a:off x="10013760" y="330480"/>
            <a:ext cx="2136600" cy="1421640"/>
          </a:xfrm>
          <a:prstGeom prst="rect">
            <a:avLst/>
          </a:prstGeom>
          <a:ln w="0">
            <a:noFill/>
          </a:ln>
        </p:spPr>
      </p:pic>
      <p:pic>
        <p:nvPicPr>
          <p:cNvPr id="137" name="Picture 24" descr="fatec_ra_baixada_santista_baixada_santista_rubens_lara_cor.png"/>
          <p:cNvPicPr/>
          <p:nvPr/>
        </p:nvPicPr>
        <p:blipFill>
          <a:blip r:embed="rId2"/>
          <a:stretch/>
        </p:blipFill>
        <p:spPr>
          <a:xfrm>
            <a:off x="10118880" y="2329560"/>
            <a:ext cx="2031120" cy="1069920"/>
          </a:xfrm>
          <a:prstGeom prst="rect">
            <a:avLst/>
          </a:prstGeom>
          <a:ln w="0">
            <a:noFill/>
          </a:ln>
        </p:spPr>
      </p:pic>
      <p:pic>
        <p:nvPicPr>
          <p:cNvPr id="138" name="Graphic 5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0577160" y="3787560"/>
            <a:ext cx="1393920" cy="1043280"/>
          </a:xfrm>
          <a:prstGeom prst="rect">
            <a:avLst/>
          </a:prstGeom>
          <a:ln w="0">
            <a:noFill/>
          </a:ln>
        </p:spPr>
      </p:pic>
      <p:pic>
        <p:nvPicPr>
          <p:cNvPr id="139" name="Picture 25" descr="LOGO-SP-PT-HORIZONTAL.png"/>
          <p:cNvPicPr/>
          <p:nvPr/>
        </p:nvPicPr>
        <p:blipFill>
          <a:blip r:embed="rId5"/>
          <a:stretch/>
        </p:blipFill>
        <p:spPr>
          <a:xfrm>
            <a:off x="9668520" y="5452200"/>
            <a:ext cx="2626560" cy="1074600"/>
          </a:xfrm>
          <a:prstGeom prst="rect">
            <a:avLst/>
          </a:prstGeom>
          <a:ln w="0">
            <a:noFill/>
          </a:ln>
        </p:spPr>
      </p:pic>
      <p:pic>
        <p:nvPicPr>
          <p:cNvPr id="140" name="" descr=""/>
          <p:cNvPicPr/>
          <p:nvPr/>
        </p:nvPicPr>
        <p:blipFill>
          <a:blip r:embed="rId6"/>
          <a:stretch/>
        </p:blipFill>
        <p:spPr>
          <a:xfrm>
            <a:off x="900000" y="1620000"/>
            <a:ext cx="8722080" cy="431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Rectangle 22"/>
          <p:cNvSpPr/>
          <p:nvPr/>
        </p:nvSpPr>
        <p:spPr>
          <a:xfrm>
            <a:off x="0" y="0"/>
            <a:ext cx="12188160" cy="22788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2" name="Rectangle 23"/>
          <p:cNvSpPr/>
          <p:nvPr/>
        </p:nvSpPr>
        <p:spPr>
          <a:xfrm>
            <a:off x="0" y="6656760"/>
            <a:ext cx="12188160" cy="200520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3" name="Rectangle 24"/>
          <p:cNvSpPr/>
          <p:nvPr/>
        </p:nvSpPr>
        <p:spPr>
          <a:xfrm>
            <a:off x="0" y="228600"/>
            <a:ext cx="136440" cy="640008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4" name="TextBox 14"/>
          <p:cNvSpPr/>
          <p:nvPr/>
        </p:nvSpPr>
        <p:spPr>
          <a:xfrm>
            <a:off x="631080" y="457200"/>
            <a:ext cx="71640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2800" spc="-1" strike="noStrike">
                <a:solidFill>
                  <a:srgbClr val="00285a"/>
                </a:solidFill>
                <a:latin typeface="Arial"/>
              </a:rPr>
              <a:t>Modelos – Regressor Linear Padronizado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Rounded Rectangle 8"/>
          <p:cNvSpPr/>
          <p:nvPr/>
        </p:nvSpPr>
        <p:spPr>
          <a:xfrm>
            <a:off x="548640" y="1280160"/>
            <a:ext cx="9344160" cy="4957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004c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46" name="Picture 29" descr="logo_simposio_autalizado copy.png"/>
          <p:cNvPicPr/>
          <p:nvPr/>
        </p:nvPicPr>
        <p:blipFill>
          <a:blip r:embed="rId1"/>
          <a:stretch/>
        </p:blipFill>
        <p:spPr>
          <a:xfrm>
            <a:off x="10013760" y="330480"/>
            <a:ext cx="2136600" cy="1421640"/>
          </a:xfrm>
          <a:prstGeom prst="rect">
            <a:avLst/>
          </a:prstGeom>
          <a:ln w="0">
            <a:noFill/>
          </a:ln>
        </p:spPr>
      </p:pic>
      <p:pic>
        <p:nvPicPr>
          <p:cNvPr id="147" name="Picture 30" descr="fatec_ra_baixada_santista_baixada_santista_rubens_lara_cor.png"/>
          <p:cNvPicPr/>
          <p:nvPr/>
        </p:nvPicPr>
        <p:blipFill>
          <a:blip r:embed="rId2"/>
          <a:stretch/>
        </p:blipFill>
        <p:spPr>
          <a:xfrm>
            <a:off x="10118880" y="2329560"/>
            <a:ext cx="2031120" cy="1069920"/>
          </a:xfrm>
          <a:prstGeom prst="rect">
            <a:avLst/>
          </a:prstGeom>
          <a:ln w="0">
            <a:noFill/>
          </a:ln>
        </p:spPr>
      </p:pic>
      <p:pic>
        <p:nvPicPr>
          <p:cNvPr id="148" name="Graphic 7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0577160" y="3787560"/>
            <a:ext cx="1393920" cy="1043280"/>
          </a:xfrm>
          <a:prstGeom prst="rect">
            <a:avLst/>
          </a:prstGeom>
          <a:ln w="0">
            <a:noFill/>
          </a:ln>
        </p:spPr>
      </p:pic>
      <p:pic>
        <p:nvPicPr>
          <p:cNvPr id="149" name="Picture 31" descr="LOGO-SP-PT-HORIZONTAL.png"/>
          <p:cNvPicPr/>
          <p:nvPr/>
        </p:nvPicPr>
        <p:blipFill>
          <a:blip r:embed="rId5"/>
          <a:stretch/>
        </p:blipFill>
        <p:spPr>
          <a:xfrm>
            <a:off x="9668520" y="5452200"/>
            <a:ext cx="2626560" cy="1074600"/>
          </a:xfrm>
          <a:prstGeom prst="rect">
            <a:avLst/>
          </a:prstGeom>
          <a:ln w="0">
            <a:noFill/>
          </a:ln>
        </p:spPr>
      </p:pic>
      <p:pic>
        <p:nvPicPr>
          <p:cNvPr id="150" name="" descr=""/>
          <p:cNvPicPr/>
          <p:nvPr/>
        </p:nvPicPr>
        <p:blipFill>
          <a:blip r:embed="rId6"/>
          <a:stretch/>
        </p:blipFill>
        <p:spPr>
          <a:xfrm>
            <a:off x="734760" y="1620000"/>
            <a:ext cx="8984880" cy="413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ctangle 25"/>
          <p:cNvSpPr/>
          <p:nvPr/>
        </p:nvSpPr>
        <p:spPr>
          <a:xfrm>
            <a:off x="0" y="0"/>
            <a:ext cx="12188160" cy="22788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2" name="Rectangle 26"/>
          <p:cNvSpPr/>
          <p:nvPr/>
        </p:nvSpPr>
        <p:spPr>
          <a:xfrm>
            <a:off x="0" y="6656760"/>
            <a:ext cx="12188160" cy="200520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3" name="Rectangle 27"/>
          <p:cNvSpPr/>
          <p:nvPr/>
        </p:nvSpPr>
        <p:spPr>
          <a:xfrm>
            <a:off x="0" y="228600"/>
            <a:ext cx="136440" cy="640008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4" name="TextBox 15"/>
          <p:cNvSpPr/>
          <p:nvPr/>
        </p:nvSpPr>
        <p:spPr>
          <a:xfrm>
            <a:off x="631080" y="457200"/>
            <a:ext cx="71640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2800" spc="-1" strike="noStrike">
                <a:solidFill>
                  <a:srgbClr val="00285a"/>
                </a:solidFill>
                <a:latin typeface="Arial"/>
              </a:rPr>
              <a:t>Modelos – Regressor Linear Padronizado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Rounded Rectangle 9"/>
          <p:cNvSpPr/>
          <p:nvPr/>
        </p:nvSpPr>
        <p:spPr>
          <a:xfrm>
            <a:off x="548640" y="1280160"/>
            <a:ext cx="9344160" cy="4957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004c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56" name="Picture 32" descr="logo_simposio_autalizado copy.png"/>
          <p:cNvPicPr/>
          <p:nvPr/>
        </p:nvPicPr>
        <p:blipFill>
          <a:blip r:embed="rId1"/>
          <a:stretch/>
        </p:blipFill>
        <p:spPr>
          <a:xfrm>
            <a:off x="10013760" y="330480"/>
            <a:ext cx="2136600" cy="1421640"/>
          </a:xfrm>
          <a:prstGeom prst="rect">
            <a:avLst/>
          </a:prstGeom>
          <a:ln w="0">
            <a:noFill/>
          </a:ln>
        </p:spPr>
      </p:pic>
      <p:pic>
        <p:nvPicPr>
          <p:cNvPr id="157" name="Picture 33" descr="fatec_ra_baixada_santista_baixada_santista_rubens_lara_cor.png"/>
          <p:cNvPicPr/>
          <p:nvPr/>
        </p:nvPicPr>
        <p:blipFill>
          <a:blip r:embed="rId2"/>
          <a:stretch/>
        </p:blipFill>
        <p:spPr>
          <a:xfrm>
            <a:off x="10118880" y="2329560"/>
            <a:ext cx="2031120" cy="1069920"/>
          </a:xfrm>
          <a:prstGeom prst="rect">
            <a:avLst/>
          </a:prstGeom>
          <a:ln w="0">
            <a:noFill/>
          </a:ln>
        </p:spPr>
      </p:pic>
      <p:pic>
        <p:nvPicPr>
          <p:cNvPr id="158" name="Graphic 8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0577160" y="3787560"/>
            <a:ext cx="1393920" cy="1043280"/>
          </a:xfrm>
          <a:prstGeom prst="rect">
            <a:avLst/>
          </a:prstGeom>
          <a:ln w="0">
            <a:noFill/>
          </a:ln>
        </p:spPr>
      </p:pic>
      <p:pic>
        <p:nvPicPr>
          <p:cNvPr id="159" name="Picture 34" descr="LOGO-SP-PT-HORIZONTAL.png"/>
          <p:cNvPicPr/>
          <p:nvPr/>
        </p:nvPicPr>
        <p:blipFill>
          <a:blip r:embed="rId5"/>
          <a:stretch/>
        </p:blipFill>
        <p:spPr>
          <a:xfrm>
            <a:off x="9668520" y="5452200"/>
            <a:ext cx="2626560" cy="1074600"/>
          </a:xfrm>
          <a:prstGeom prst="rect">
            <a:avLst/>
          </a:prstGeom>
          <a:ln w="0">
            <a:noFill/>
          </a:ln>
        </p:spPr>
      </p:pic>
      <p:pic>
        <p:nvPicPr>
          <p:cNvPr id="160" name="" descr=""/>
          <p:cNvPicPr/>
          <p:nvPr/>
        </p:nvPicPr>
        <p:blipFill>
          <a:blip r:embed="rId6"/>
          <a:stretch/>
        </p:blipFill>
        <p:spPr>
          <a:xfrm>
            <a:off x="900000" y="1620000"/>
            <a:ext cx="8639640" cy="4310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Rectangle 28"/>
          <p:cNvSpPr/>
          <p:nvPr/>
        </p:nvSpPr>
        <p:spPr>
          <a:xfrm>
            <a:off x="0" y="0"/>
            <a:ext cx="12188160" cy="22788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2" name="Rectangle 29"/>
          <p:cNvSpPr/>
          <p:nvPr/>
        </p:nvSpPr>
        <p:spPr>
          <a:xfrm>
            <a:off x="0" y="6656760"/>
            <a:ext cx="12188160" cy="200520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3" name="Rectangle 30"/>
          <p:cNvSpPr/>
          <p:nvPr/>
        </p:nvSpPr>
        <p:spPr>
          <a:xfrm>
            <a:off x="0" y="228600"/>
            <a:ext cx="136440" cy="640008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4" name="TextBox 16"/>
          <p:cNvSpPr/>
          <p:nvPr/>
        </p:nvSpPr>
        <p:spPr>
          <a:xfrm>
            <a:off x="1379160" y="457200"/>
            <a:ext cx="56646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2800" spc="-1" strike="noStrike">
                <a:solidFill>
                  <a:srgbClr val="00285a"/>
                </a:solidFill>
                <a:latin typeface="Arial"/>
              </a:rPr>
              <a:t>Modelos – Regressor Polinomial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Rounded Rectangle 10"/>
          <p:cNvSpPr/>
          <p:nvPr/>
        </p:nvSpPr>
        <p:spPr>
          <a:xfrm>
            <a:off x="548640" y="1280160"/>
            <a:ext cx="9344160" cy="4957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004c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66" name="Picture 35" descr="logo_simposio_autalizado copy.png"/>
          <p:cNvPicPr/>
          <p:nvPr/>
        </p:nvPicPr>
        <p:blipFill>
          <a:blip r:embed="rId1"/>
          <a:stretch/>
        </p:blipFill>
        <p:spPr>
          <a:xfrm>
            <a:off x="10013760" y="330480"/>
            <a:ext cx="2136600" cy="1421640"/>
          </a:xfrm>
          <a:prstGeom prst="rect">
            <a:avLst/>
          </a:prstGeom>
          <a:ln w="0">
            <a:noFill/>
          </a:ln>
        </p:spPr>
      </p:pic>
      <p:pic>
        <p:nvPicPr>
          <p:cNvPr id="167" name="Picture 36" descr="fatec_ra_baixada_santista_baixada_santista_rubens_lara_cor.png"/>
          <p:cNvPicPr/>
          <p:nvPr/>
        </p:nvPicPr>
        <p:blipFill>
          <a:blip r:embed="rId2"/>
          <a:stretch/>
        </p:blipFill>
        <p:spPr>
          <a:xfrm>
            <a:off x="10118880" y="2329560"/>
            <a:ext cx="2031120" cy="1069920"/>
          </a:xfrm>
          <a:prstGeom prst="rect">
            <a:avLst/>
          </a:prstGeom>
          <a:ln w="0">
            <a:noFill/>
          </a:ln>
        </p:spPr>
      </p:pic>
      <p:pic>
        <p:nvPicPr>
          <p:cNvPr id="168" name="Graphic 9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0577160" y="3787560"/>
            <a:ext cx="1393920" cy="1043280"/>
          </a:xfrm>
          <a:prstGeom prst="rect">
            <a:avLst/>
          </a:prstGeom>
          <a:ln w="0">
            <a:noFill/>
          </a:ln>
        </p:spPr>
      </p:pic>
      <p:pic>
        <p:nvPicPr>
          <p:cNvPr id="169" name="Picture 37" descr="LOGO-SP-PT-HORIZONTAL.png"/>
          <p:cNvPicPr/>
          <p:nvPr/>
        </p:nvPicPr>
        <p:blipFill>
          <a:blip r:embed="rId5"/>
          <a:stretch/>
        </p:blipFill>
        <p:spPr>
          <a:xfrm>
            <a:off x="9668520" y="5452200"/>
            <a:ext cx="2626560" cy="1074600"/>
          </a:xfrm>
          <a:prstGeom prst="rect">
            <a:avLst/>
          </a:prstGeom>
          <a:ln w="0">
            <a:noFill/>
          </a:ln>
        </p:spPr>
      </p:pic>
      <p:pic>
        <p:nvPicPr>
          <p:cNvPr id="170" name="" descr=""/>
          <p:cNvPicPr/>
          <p:nvPr/>
        </p:nvPicPr>
        <p:blipFill>
          <a:blip r:embed="rId6"/>
          <a:stretch/>
        </p:blipFill>
        <p:spPr>
          <a:xfrm>
            <a:off x="856080" y="1620000"/>
            <a:ext cx="8755560" cy="4232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Rectangle 31"/>
          <p:cNvSpPr/>
          <p:nvPr/>
        </p:nvSpPr>
        <p:spPr>
          <a:xfrm>
            <a:off x="0" y="0"/>
            <a:ext cx="12188160" cy="22788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2" name="Rectangle 32"/>
          <p:cNvSpPr/>
          <p:nvPr/>
        </p:nvSpPr>
        <p:spPr>
          <a:xfrm>
            <a:off x="0" y="6656760"/>
            <a:ext cx="12188160" cy="200520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3" name="Rectangle 33"/>
          <p:cNvSpPr/>
          <p:nvPr/>
        </p:nvSpPr>
        <p:spPr>
          <a:xfrm>
            <a:off x="0" y="228600"/>
            <a:ext cx="136440" cy="640008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4" name="TextBox 17"/>
          <p:cNvSpPr/>
          <p:nvPr/>
        </p:nvSpPr>
        <p:spPr>
          <a:xfrm>
            <a:off x="1380600" y="457200"/>
            <a:ext cx="56646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2800" spc="-1" strike="noStrike">
                <a:solidFill>
                  <a:srgbClr val="00285a"/>
                </a:solidFill>
                <a:latin typeface="Arial"/>
              </a:rPr>
              <a:t>Modelos – Regressor Polinomial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Rounded Rectangle 11"/>
          <p:cNvSpPr/>
          <p:nvPr/>
        </p:nvSpPr>
        <p:spPr>
          <a:xfrm>
            <a:off x="548640" y="1280160"/>
            <a:ext cx="9344160" cy="4957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004c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76" name="Picture 38" descr="logo_simposio_autalizado copy.png"/>
          <p:cNvPicPr/>
          <p:nvPr/>
        </p:nvPicPr>
        <p:blipFill>
          <a:blip r:embed="rId1"/>
          <a:stretch/>
        </p:blipFill>
        <p:spPr>
          <a:xfrm>
            <a:off x="10013760" y="330480"/>
            <a:ext cx="2136600" cy="1421640"/>
          </a:xfrm>
          <a:prstGeom prst="rect">
            <a:avLst/>
          </a:prstGeom>
          <a:ln w="0">
            <a:noFill/>
          </a:ln>
        </p:spPr>
      </p:pic>
      <p:pic>
        <p:nvPicPr>
          <p:cNvPr id="177" name="Picture 39" descr="fatec_ra_baixada_santista_baixada_santista_rubens_lara_cor.png"/>
          <p:cNvPicPr/>
          <p:nvPr/>
        </p:nvPicPr>
        <p:blipFill>
          <a:blip r:embed="rId2"/>
          <a:stretch/>
        </p:blipFill>
        <p:spPr>
          <a:xfrm>
            <a:off x="10118880" y="2329560"/>
            <a:ext cx="2031120" cy="1069920"/>
          </a:xfrm>
          <a:prstGeom prst="rect">
            <a:avLst/>
          </a:prstGeom>
          <a:ln w="0">
            <a:noFill/>
          </a:ln>
        </p:spPr>
      </p:pic>
      <p:pic>
        <p:nvPicPr>
          <p:cNvPr id="178" name="Graphic 10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0577160" y="3787560"/>
            <a:ext cx="1393920" cy="1043280"/>
          </a:xfrm>
          <a:prstGeom prst="rect">
            <a:avLst/>
          </a:prstGeom>
          <a:ln w="0">
            <a:noFill/>
          </a:ln>
        </p:spPr>
      </p:pic>
      <p:pic>
        <p:nvPicPr>
          <p:cNvPr id="179" name="Picture 40" descr="LOGO-SP-PT-HORIZONTAL.png"/>
          <p:cNvPicPr/>
          <p:nvPr/>
        </p:nvPicPr>
        <p:blipFill>
          <a:blip r:embed="rId5"/>
          <a:stretch/>
        </p:blipFill>
        <p:spPr>
          <a:xfrm>
            <a:off x="9668520" y="5452200"/>
            <a:ext cx="2626560" cy="1074600"/>
          </a:xfrm>
          <a:prstGeom prst="rect">
            <a:avLst/>
          </a:prstGeom>
          <a:ln w="0">
            <a:noFill/>
          </a:ln>
        </p:spPr>
      </p:pic>
      <p:pic>
        <p:nvPicPr>
          <p:cNvPr id="180" name="" descr=""/>
          <p:cNvPicPr/>
          <p:nvPr/>
        </p:nvPicPr>
        <p:blipFill>
          <a:blip r:embed="rId6"/>
          <a:stretch/>
        </p:blipFill>
        <p:spPr>
          <a:xfrm>
            <a:off x="828720" y="1656000"/>
            <a:ext cx="8746920" cy="419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Rectangle 34"/>
          <p:cNvSpPr/>
          <p:nvPr/>
        </p:nvSpPr>
        <p:spPr>
          <a:xfrm>
            <a:off x="0" y="0"/>
            <a:ext cx="12188160" cy="22788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2" name="Rectangle 35"/>
          <p:cNvSpPr/>
          <p:nvPr/>
        </p:nvSpPr>
        <p:spPr>
          <a:xfrm>
            <a:off x="0" y="6656760"/>
            <a:ext cx="12188160" cy="200520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3" name="Rectangle 36"/>
          <p:cNvSpPr/>
          <p:nvPr/>
        </p:nvSpPr>
        <p:spPr>
          <a:xfrm>
            <a:off x="0" y="228600"/>
            <a:ext cx="136440" cy="640008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4" name="TextBox 18"/>
          <p:cNvSpPr/>
          <p:nvPr/>
        </p:nvSpPr>
        <p:spPr>
          <a:xfrm>
            <a:off x="3113640" y="457200"/>
            <a:ext cx="21913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2800" spc="-1" strike="noStrike">
                <a:solidFill>
                  <a:srgbClr val="00285a"/>
                </a:solidFill>
                <a:latin typeface="Arial"/>
              </a:rPr>
              <a:t>Conclusões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Rounded Rectangle 12"/>
          <p:cNvSpPr/>
          <p:nvPr/>
        </p:nvSpPr>
        <p:spPr>
          <a:xfrm>
            <a:off x="548640" y="1280160"/>
            <a:ext cx="9344160" cy="4957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004c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86" name="Picture 41" descr="logo_simposio_autalizado copy.png"/>
          <p:cNvPicPr/>
          <p:nvPr/>
        </p:nvPicPr>
        <p:blipFill>
          <a:blip r:embed="rId1"/>
          <a:stretch/>
        </p:blipFill>
        <p:spPr>
          <a:xfrm>
            <a:off x="10013760" y="330480"/>
            <a:ext cx="2136600" cy="1421640"/>
          </a:xfrm>
          <a:prstGeom prst="rect">
            <a:avLst/>
          </a:prstGeom>
          <a:ln w="0">
            <a:noFill/>
          </a:ln>
        </p:spPr>
      </p:pic>
      <p:pic>
        <p:nvPicPr>
          <p:cNvPr id="187" name="Picture 42" descr="fatec_ra_baixada_santista_baixada_santista_rubens_lara_cor.png"/>
          <p:cNvPicPr/>
          <p:nvPr/>
        </p:nvPicPr>
        <p:blipFill>
          <a:blip r:embed="rId2"/>
          <a:stretch/>
        </p:blipFill>
        <p:spPr>
          <a:xfrm>
            <a:off x="10118880" y="2329560"/>
            <a:ext cx="2031120" cy="1069920"/>
          </a:xfrm>
          <a:prstGeom prst="rect">
            <a:avLst/>
          </a:prstGeom>
          <a:ln w="0">
            <a:noFill/>
          </a:ln>
        </p:spPr>
      </p:pic>
      <p:pic>
        <p:nvPicPr>
          <p:cNvPr id="188" name="Graphic 11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0577160" y="3787560"/>
            <a:ext cx="1393920" cy="1043280"/>
          </a:xfrm>
          <a:prstGeom prst="rect">
            <a:avLst/>
          </a:prstGeom>
          <a:ln w="0">
            <a:noFill/>
          </a:ln>
        </p:spPr>
      </p:pic>
      <p:pic>
        <p:nvPicPr>
          <p:cNvPr id="189" name="Picture 43" descr="LOGO-SP-PT-HORIZONTAL.png"/>
          <p:cNvPicPr/>
          <p:nvPr/>
        </p:nvPicPr>
        <p:blipFill>
          <a:blip r:embed="rId5"/>
          <a:stretch/>
        </p:blipFill>
        <p:spPr>
          <a:xfrm>
            <a:off x="9668520" y="5452200"/>
            <a:ext cx="2626560" cy="1074600"/>
          </a:xfrm>
          <a:prstGeom prst="rect">
            <a:avLst/>
          </a:prstGeom>
          <a:ln w="0">
            <a:noFill/>
          </a:ln>
        </p:spPr>
      </p:pic>
      <p:pic>
        <p:nvPicPr>
          <p:cNvPr id="190" name="" descr=""/>
          <p:cNvPicPr/>
          <p:nvPr/>
        </p:nvPicPr>
        <p:blipFill>
          <a:blip r:embed="rId6"/>
          <a:stretch/>
        </p:blipFill>
        <p:spPr>
          <a:xfrm>
            <a:off x="684000" y="2376000"/>
            <a:ext cx="9086400" cy="269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Rectangle 37"/>
          <p:cNvSpPr/>
          <p:nvPr/>
        </p:nvSpPr>
        <p:spPr>
          <a:xfrm>
            <a:off x="0" y="0"/>
            <a:ext cx="12188160" cy="22788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2" name="Rectangle 38"/>
          <p:cNvSpPr/>
          <p:nvPr/>
        </p:nvSpPr>
        <p:spPr>
          <a:xfrm>
            <a:off x="0" y="6656760"/>
            <a:ext cx="12188160" cy="200520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3" name="Rectangle 39"/>
          <p:cNvSpPr/>
          <p:nvPr/>
        </p:nvSpPr>
        <p:spPr>
          <a:xfrm>
            <a:off x="0" y="228600"/>
            <a:ext cx="136440" cy="640008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4" name="TextBox 19"/>
          <p:cNvSpPr/>
          <p:nvPr/>
        </p:nvSpPr>
        <p:spPr>
          <a:xfrm>
            <a:off x="3112920" y="457200"/>
            <a:ext cx="21927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2800" spc="-1" strike="noStrike">
                <a:solidFill>
                  <a:srgbClr val="00285a"/>
                </a:solidFill>
                <a:latin typeface="Arial"/>
              </a:rPr>
              <a:t>Referências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Rounded Rectangle 13"/>
          <p:cNvSpPr/>
          <p:nvPr/>
        </p:nvSpPr>
        <p:spPr>
          <a:xfrm>
            <a:off x="548640" y="1280160"/>
            <a:ext cx="9344160" cy="4957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004c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96" name="Picture 44" descr="logo_simposio_autalizado copy.png"/>
          <p:cNvPicPr/>
          <p:nvPr/>
        </p:nvPicPr>
        <p:blipFill>
          <a:blip r:embed="rId1"/>
          <a:stretch/>
        </p:blipFill>
        <p:spPr>
          <a:xfrm>
            <a:off x="10013760" y="330480"/>
            <a:ext cx="2136600" cy="1421640"/>
          </a:xfrm>
          <a:prstGeom prst="rect">
            <a:avLst/>
          </a:prstGeom>
          <a:ln w="0">
            <a:noFill/>
          </a:ln>
        </p:spPr>
      </p:pic>
      <p:pic>
        <p:nvPicPr>
          <p:cNvPr id="197" name="Picture 45" descr="fatec_ra_baixada_santista_baixada_santista_rubens_lara_cor.png"/>
          <p:cNvPicPr/>
          <p:nvPr/>
        </p:nvPicPr>
        <p:blipFill>
          <a:blip r:embed="rId2"/>
          <a:stretch/>
        </p:blipFill>
        <p:spPr>
          <a:xfrm>
            <a:off x="10118880" y="2329560"/>
            <a:ext cx="2031120" cy="1069920"/>
          </a:xfrm>
          <a:prstGeom prst="rect">
            <a:avLst/>
          </a:prstGeom>
          <a:ln w="0">
            <a:noFill/>
          </a:ln>
        </p:spPr>
      </p:pic>
      <p:pic>
        <p:nvPicPr>
          <p:cNvPr id="198" name="Graphic 12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0577160" y="3787560"/>
            <a:ext cx="1393920" cy="1043280"/>
          </a:xfrm>
          <a:prstGeom prst="rect">
            <a:avLst/>
          </a:prstGeom>
          <a:ln w="0">
            <a:noFill/>
          </a:ln>
        </p:spPr>
      </p:pic>
      <p:pic>
        <p:nvPicPr>
          <p:cNvPr id="199" name="Picture 46" descr="LOGO-SP-PT-HORIZONTAL.png"/>
          <p:cNvPicPr/>
          <p:nvPr/>
        </p:nvPicPr>
        <p:blipFill>
          <a:blip r:embed="rId5"/>
          <a:stretch/>
        </p:blipFill>
        <p:spPr>
          <a:xfrm>
            <a:off x="9668520" y="5452200"/>
            <a:ext cx="2626560" cy="1074600"/>
          </a:xfrm>
          <a:prstGeom prst="rect">
            <a:avLst/>
          </a:prstGeom>
          <a:ln w="0">
            <a:noFill/>
          </a:ln>
        </p:spPr>
      </p:pic>
      <p:pic>
        <p:nvPicPr>
          <p:cNvPr id="200" name="" descr=""/>
          <p:cNvPicPr/>
          <p:nvPr/>
        </p:nvPicPr>
        <p:blipFill>
          <a:blip r:embed="rId6"/>
          <a:stretch/>
        </p:blipFill>
        <p:spPr>
          <a:xfrm>
            <a:off x="1089360" y="3164040"/>
            <a:ext cx="8235360" cy="107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Rectangle 1"/>
          <p:cNvSpPr/>
          <p:nvPr/>
        </p:nvSpPr>
        <p:spPr>
          <a:xfrm>
            <a:off x="0" y="0"/>
            <a:ext cx="12188160" cy="22788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2" name="Rectangle 2"/>
          <p:cNvSpPr/>
          <p:nvPr/>
        </p:nvSpPr>
        <p:spPr>
          <a:xfrm>
            <a:off x="0" y="6656760"/>
            <a:ext cx="12188160" cy="200520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3" name="Rectangle 3"/>
          <p:cNvSpPr/>
          <p:nvPr/>
        </p:nvSpPr>
        <p:spPr>
          <a:xfrm>
            <a:off x="0" y="228600"/>
            <a:ext cx="136440" cy="640008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04" name="Picture 5" descr="logo_simposio_autalizado copy.png"/>
          <p:cNvPicPr/>
          <p:nvPr/>
        </p:nvPicPr>
        <p:blipFill>
          <a:blip r:embed="rId1"/>
          <a:stretch/>
        </p:blipFill>
        <p:spPr>
          <a:xfrm>
            <a:off x="8940600" y="255960"/>
            <a:ext cx="3179160" cy="2115720"/>
          </a:xfrm>
          <a:prstGeom prst="rect">
            <a:avLst/>
          </a:prstGeom>
          <a:ln w="0">
            <a:noFill/>
          </a:ln>
        </p:spPr>
      </p:pic>
      <p:sp>
        <p:nvSpPr>
          <p:cNvPr id="205" name="TextBox 10"/>
          <p:cNvSpPr/>
          <p:nvPr/>
        </p:nvSpPr>
        <p:spPr>
          <a:xfrm>
            <a:off x="1483920" y="2834640"/>
            <a:ext cx="884808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400" spc="-1" strike="noStrike">
                <a:solidFill>
                  <a:schemeClr val="dk1"/>
                </a:solidFill>
                <a:latin typeface="Arial"/>
              </a:rPr>
              <a:t>OBRIGADO(A)!</a:t>
            </a:r>
            <a:endParaRPr b="0" lang="pt-BR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Box 11"/>
          <p:cNvSpPr/>
          <p:nvPr/>
        </p:nvSpPr>
        <p:spPr>
          <a:xfrm>
            <a:off x="1618920" y="3657600"/>
            <a:ext cx="843876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200" spc="-1" strike="noStrike">
                <a:solidFill>
                  <a:schemeClr val="dk1"/>
                </a:solidFill>
                <a:latin typeface="Arial"/>
              </a:rPr>
              <a:t>Perguntas e Discussão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7" name="Picture 15" descr="fatec_ra_baixada_santista_baixada_santista_rubens_lara_cor.png"/>
          <p:cNvPicPr/>
          <p:nvPr/>
        </p:nvPicPr>
        <p:blipFill>
          <a:blip r:embed="rId2"/>
          <a:stretch/>
        </p:blipFill>
        <p:spPr>
          <a:xfrm>
            <a:off x="5984640" y="487800"/>
            <a:ext cx="2276640" cy="1199160"/>
          </a:xfrm>
          <a:prstGeom prst="rect">
            <a:avLst/>
          </a:prstGeom>
          <a:ln w="0">
            <a:noFill/>
          </a:ln>
        </p:spPr>
      </p:pic>
      <p:pic>
        <p:nvPicPr>
          <p:cNvPr id="208" name="Graphic 16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3847680" y="378360"/>
            <a:ext cx="1512360" cy="996840"/>
          </a:xfrm>
          <a:prstGeom prst="rect">
            <a:avLst/>
          </a:prstGeom>
          <a:ln w="0">
            <a:noFill/>
          </a:ln>
        </p:spPr>
      </p:pic>
      <p:pic>
        <p:nvPicPr>
          <p:cNvPr id="209" name="Picture 17" descr="LOGO-SP-PT-HORIZONTAL.png"/>
          <p:cNvPicPr/>
          <p:nvPr/>
        </p:nvPicPr>
        <p:blipFill>
          <a:blip r:embed="rId5"/>
          <a:stretch/>
        </p:blipFill>
        <p:spPr>
          <a:xfrm>
            <a:off x="68760" y="127440"/>
            <a:ext cx="3709800" cy="1518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</TotalTime>
  <Application>LibreOffice/24.2.7.2$Linux_X86_64 LibreOffice_project/420$Build-2</Application>
  <AppVersion>15.0000</AppVersion>
  <Words>253</Words>
  <Paragraphs>49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pt-BR</dc:language>
  <cp:lastModifiedBy/>
  <dcterms:modified xsi:type="dcterms:W3CDTF">2026-05-21T17:11:54Z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Custom</vt:lpwstr>
  </property>
  <property fmtid="{D5CDD505-2E9C-101B-9397-08002B2CF9AE}" pid="3" name="Slides">
    <vt:i4>9</vt:i4>
  </property>
</Properties>
</file>