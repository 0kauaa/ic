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_rels/presentation.xml.rels" ContentType="application/vnd.openxmlformats-package.relationships+xml"/>
  <Override PartName="/ppt/media/image13.png" ContentType="image/png"/>
  <Override PartName="/ppt/media/image4.png" ContentType="image/png"/>
  <Override PartName="/ppt/media/image9.png" ContentType="image/png"/>
  <Override PartName="/ppt/media/image18.png" ContentType="image/png"/>
  <Override PartName="/ppt/media/image14.png" ContentType="image/png"/>
  <Override PartName="/ppt/media/image5.svg" ContentType="image/svg"/>
  <Override PartName="/ppt/media/image8.png" ContentType="image/png"/>
  <Override PartName="/ppt/media/image17.png" ContentType="image/png"/>
  <Override PartName="/ppt/media/image12.png" ContentType="image/png"/>
  <Override PartName="/ppt/media/image3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16.png" ContentType="image/png"/>
  <Override PartName="/ppt/media/image7.png" ContentType="image/png"/>
  <Override PartName="/ppt/media/image1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E51342F-CCB4-4F9D-ABFE-4A52F5FB77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64111A4-9E7F-4E61-A9A2-0EFABD5F88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7782EC05-E175-4625-8BE8-8C9DB4D939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48214CE-97F8-4562-B4FC-E27D47B042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78061BF-1001-42A3-838A-F4EBB4E1F9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F33D069D-CCFE-46ED-849A-DD1DB6CB21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1DF039A-9164-4896-A7E5-B2BFC07DE3A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00A69D65-CD70-482A-B8B5-4D30EFF6229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8A1CE3C5-C989-412A-A4A3-D95EF406EA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4F5C79E1-9623-450A-AEA2-7EDEEE8B8AB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CD588D02-E62A-483D-BC32-986B5B43E1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56F3999-6CAE-401B-B70D-FBD2C112F7C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37F7363-9304-4204-8592-2A92D2D1922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2FCCC7B-6F4C-435F-BD55-CC1A43ED8C0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10C7EE5-BDCC-4BAA-8B5E-071C0EBCF15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6DA5413-1F88-4BC4-BDCC-73257571D75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4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EE0595C-3153-4334-AF31-8B80D1AA1BB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3A6E31B-45CF-41D1-812F-B5D5F5737D2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21D2B98-3646-40A5-BD81-0C0F93BB3F7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91C104C-6B5C-4250-A470-142BAFFD124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6C274B7-C947-4040-9404-ED8BAB99825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FCE30AA-7E4E-48A9-8131-B2F9461E430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7.png"/><Relationship Id="rId7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11.png"/><Relationship Id="rId7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15.png"/><Relationship Id="rId7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16.png"/><Relationship Id="rId7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17.png"/><Relationship Id="rId7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image" Target="../media/image18.png"/><Relationship Id="rId7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12187800" cy="227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Rectangle 2"/>
          <p:cNvSpPr/>
          <p:nvPr/>
        </p:nvSpPr>
        <p:spPr>
          <a:xfrm>
            <a:off x="0" y="6656760"/>
            <a:ext cx="12187800" cy="20016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" name="Rectangle 3"/>
          <p:cNvSpPr/>
          <p:nvPr/>
        </p:nvSpPr>
        <p:spPr>
          <a:xfrm>
            <a:off x="0" y="228600"/>
            <a:ext cx="136080" cy="63997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3" name="Picture 4" descr="logo_simposio_autalizado copy.png"/>
          <p:cNvPicPr/>
          <p:nvPr/>
        </p:nvPicPr>
        <p:blipFill>
          <a:blip r:embed="rId1"/>
          <a:stretch/>
        </p:blipFill>
        <p:spPr>
          <a:xfrm>
            <a:off x="8940600" y="255960"/>
            <a:ext cx="3178800" cy="2115360"/>
          </a:xfrm>
          <a:prstGeom prst="rect">
            <a:avLst/>
          </a:prstGeom>
          <a:ln w="0">
            <a:noFill/>
          </a:ln>
        </p:spPr>
      </p:pic>
      <p:sp>
        <p:nvSpPr>
          <p:cNvPr id="54" name="TextBox 5"/>
          <p:cNvSpPr/>
          <p:nvPr/>
        </p:nvSpPr>
        <p:spPr>
          <a:xfrm>
            <a:off x="707040" y="2450880"/>
            <a:ext cx="8232480" cy="158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3000" spc="-1" strike="noStrike">
                <a:solidFill>
                  <a:srgbClr val="00285a"/>
                </a:solidFill>
                <a:latin typeface="Arial"/>
              </a:rPr>
              <a:t>Implementação Categorial de Modelos de Regressão via Composição de Morfismos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6"/>
          <p:cNvSpPr/>
          <p:nvPr/>
        </p:nvSpPr>
        <p:spPr>
          <a:xfrm>
            <a:off x="644400" y="3763440"/>
            <a:ext cx="533880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2000" spc="-1" strike="noStrike">
                <a:solidFill>
                  <a:srgbClr val="004c99"/>
                </a:solidFill>
                <a:latin typeface="Arial"/>
              </a:rPr>
              <a:t>Kauã Santana da Silva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pt-BR" sz="2000" spc="-1" strike="noStrike">
                <a:solidFill>
                  <a:srgbClr val="004c99"/>
                </a:solidFill>
                <a:latin typeface="Arial"/>
              </a:rPr>
              <a:t>Prof. Dr. Alexandre Garcia de Oliveira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7"/>
          <p:cNvSpPr/>
          <p:nvPr/>
        </p:nvSpPr>
        <p:spPr>
          <a:xfrm>
            <a:off x="644400" y="5301720"/>
            <a:ext cx="51789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800" spc="-1" strike="noStrike">
                <a:solidFill>
                  <a:srgbClr val="228b22"/>
                </a:solidFill>
                <a:latin typeface="Arial"/>
              </a:rPr>
              <a:t>FATEC Baixada Santista Rubens Lara • Ciência de Dados • Santos/SP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Box 8"/>
          <p:cNvSpPr/>
          <p:nvPr/>
        </p:nvSpPr>
        <p:spPr>
          <a:xfrm>
            <a:off x="677880" y="5951520"/>
            <a:ext cx="6928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pt-BR" sz="1800" spc="-1" strike="noStrike">
                <a:solidFill>
                  <a:srgbClr val="ff8c00"/>
                </a:solidFill>
                <a:latin typeface="Arial"/>
              </a:rPr>
              <a:t>I Simpósio de Ciência de Dados das Fatecs • Santos/SP • 2026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" name="Picture 10" descr="LOGO-SP-PT-HORIZONTAL.png"/>
          <p:cNvPicPr/>
          <p:nvPr/>
        </p:nvPicPr>
        <p:blipFill>
          <a:blip r:embed="rId2"/>
          <a:stretch/>
        </p:blipFill>
        <p:spPr>
          <a:xfrm>
            <a:off x="68760" y="127440"/>
            <a:ext cx="3709440" cy="1517760"/>
          </a:xfrm>
          <a:prstGeom prst="rect">
            <a:avLst/>
          </a:prstGeom>
          <a:ln w="0">
            <a:noFill/>
          </a:ln>
        </p:spPr>
      </p:pic>
      <p:pic>
        <p:nvPicPr>
          <p:cNvPr id="59" name="Picture 11" descr="fatec_ra_baixada_santista_baixada_santista_rubens_lara_cor.png"/>
          <p:cNvPicPr/>
          <p:nvPr/>
        </p:nvPicPr>
        <p:blipFill>
          <a:blip r:embed="rId3"/>
          <a:stretch/>
        </p:blipFill>
        <p:spPr>
          <a:xfrm>
            <a:off x="5984640" y="487800"/>
            <a:ext cx="2276280" cy="1198800"/>
          </a:xfrm>
          <a:prstGeom prst="rect">
            <a:avLst/>
          </a:prstGeom>
          <a:ln w="0">
            <a:noFill/>
          </a:ln>
        </p:spPr>
      </p:pic>
      <p:pic>
        <p:nvPicPr>
          <p:cNvPr id="60" name="Graphic 1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3847680" y="378360"/>
            <a:ext cx="1512000" cy="996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87800" cy="227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6656760"/>
            <a:ext cx="12187800" cy="20016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0" y="228600"/>
            <a:ext cx="136080" cy="63997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895680" y="457200"/>
            <a:ext cx="15998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Sumário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1038600" y="864000"/>
            <a:ext cx="7060680" cy="493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200000"/>
              </a:lnSpc>
            </a:pPr>
            <a:r>
              <a:rPr b="0" lang="en-US" sz="2600" spc="-1" strike="noStrike">
                <a:solidFill>
                  <a:srgbClr val="00285a"/>
                </a:solidFill>
                <a:latin typeface="Arial"/>
              </a:rPr>
              <a:t>1. Motivação</a:t>
            </a:r>
            <a:br>
              <a:rPr sz="2600"/>
            </a:b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600" spc="-1" strike="noStrike">
                <a:solidFill>
                  <a:srgbClr val="00285a"/>
                </a:solidFill>
                <a:latin typeface="Arial"/>
                <a:ea typeface="Noto Sans CJK SC"/>
              </a:rPr>
              <a:t>2. Categoria Learn, morfismos e composição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00285a"/>
                </a:solidFill>
                <a:latin typeface="Arial"/>
                <a:ea typeface="Noto Sans CJK SC"/>
              </a:rPr>
              <a:t>3. </a:t>
            </a:r>
            <a:r>
              <a:rPr b="0" lang="en-US" sz="2600" spc="-1" strike="noStrike">
                <a:solidFill>
                  <a:srgbClr val="00285a"/>
                </a:solidFill>
                <a:latin typeface="Arial"/>
                <a:ea typeface="Noto Sans CJK SC"/>
              </a:rPr>
              <a:t>O funtor </a:t>
            </a:r>
            <a:r>
              <a:rPr b="0" lang="en-US" sz="2800" spc="-1" strike="noStrike">
                <a:solidFill>
                  <a:srgbClr val="00285a"/>
                </a:solidFill>
                <a:latin typeface="MathJax_Caligraphic"/>
                <a:ea typeface="MathJax_Caligraphic"/>
              </a:rPr>
              <a:t>L</a:t>
            </a:r>
            <a:br>
              <a:rPr sz="2800"/>
            </a:b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600" spc="-1" strike="noStrike">
                <a:solidFill>
                  <a:srgbClr val="00285a"/>
                </a:solidFill>
                <a:latin typeface="Arial"/>
                <a:ea typeface="MathJax_Caligraphic"/>
              </a:rPr>
              <a:t>3. Implementação em Haskell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2600"/>
            </a:br>
            <a:r>
              <a:rPr b="0" lang="en-US" sz="2600" spc="-1" strike="noStrike">
                <a:solidFill>
                  <a:srgbClr val="00285a"/>
                </a:solidFill>
                <a:latin typeface="Arial"/>
                <a:ea typeface="MathJax_Caligraphic"/>
              </a:rPr>
              <a:t>4. Modelos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br>
              <a:rPr sz="2600"/>
            </a:br>
            <a:r>
              <a:rPr b="0" lang="en-US" sz="2600" spc="-1" strike="noStrike">
                <a:solidFill>
                  <a:srgbClr val="00285a"/>
                </a:solidFill>
                <a:latin typeface="Arial"/>
                <a:ea typeface="MathJax_Caligraphic"/>
              </a:rPr>
              <a:t>5. Conclusões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6" name="Picture 10" descr="logo_simposio_autalizado copy.png"/>
          <p:cNvPicPr/>
          <p:nvPr/>
        </p:nvPicPr>
        <p:blipFill>
          <a:blip r:embed="rId1"/>
          <a:stretch/>
        </p:blipFill>
        <p:spPr>
          <a:xfrm>
            <a:off x="8349480" y="376200"/>
            <a:ext cx="3838320" cy="2554200"/>
          </a:xfrm>
          <a:prstGeom prst="rect">
            <a:avLst/>
          </a:prstGeom>
          <a:ln w="0">
            <a:noFill/>
          </a:ln>
        </p:spPr>
      </p:pic>
      <p:pic>
        <p:nvPicPr>
          <p:cNvPr id="67" name="Picture 11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9533160" y="3079080"/>
            <a:ext cx="2513520" cy="1323720"/>
          </a:xfrm>
          <a:prstGeom prst="rect">
            <a:avLst/>
          </a:prstGeom>
          <a:ln w="0">
            <a:noFill/>
          </a:ln>
        </p:spPr>
      </p:pic>
      <p:pic>
        <p:nvPicPr>
          <p:cNvPr id="68" name="Picture 12" descr="LOGO-SP-PT-HORIZONTAL.png"/>
          <p:cNvPicPr/>
          <p:nvPr/>
        </p:nvPicPr>
        <p:blipFill>
          <a:blip r:embed="rId3"/>
          <a:stretch/>
        </p:blipFill>
        <p:spPr>
          <a:xfrm>
            <a:off x="8718120" y="5294520"/>
            <a:ext cx="3709440" cy="1517760"/>
          </a:xfrm>
          <a:prstGeom prst="rect">
            <a:avLst/>
          </a:prstGeom>
          <a:ln w="0">
            <a:noFill/>
          </a:ln>
        </p:spPr>
      </p:pic>
      <p:pic>
        <p:nvPicPr>
          <p:cNvPr id="69" name="Graphic 13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223280" y="4479120"/>
            <a:ext cx="1667520" cy="1099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12187800" cy="227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Rectangle 2"/>
          <p:cNvSpPr/>
          <p:nvPr/>
        </p:nvSpPr>
        <p:spPr>
          <a:xfrm>
            <a:off x="0" y="6656760"/>
            <a:ext cx="12187800" cy="20016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Rectangle 3"/>
          <p:cNvSpPr/>
          <p:nvPr/>
        </p:nvSpPr>
        <p:spPr>
          <a:xfrm>
            <a:off x="0" y="228600"/>
            <a:ext cx="136080" cy="63997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Rounded Rectangle 6"/>
          <p:cNvSpPr/>
          <p:nvPr/>
        </p:nvSpPr>
        <p:spPr>
          <a:xfrm>
            <a:off x="640080" y="1280160"/>
            <a:ext cx="9027360" cy="4729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4" name="TextBox 7"/>
          <p:cNvSpPr/>
          <p:nvPr/>
        </p:nvSpPr>
        <p:spPr>
          <a:xfrm>
            <a:off x="914400" y="1645920"/>
            <a:ext cx="7958520" cy="209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50000"/>
              </a:lnSpc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5" name="Picture 12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240" cy="1421280"/>
          </a:xfrm>
          <a:prstGeom prst="rect">
            <a:avLst/>
          </a:prstGeom>
          <a:ln w="0">
            <a:noFill/>
          </a:ln>
        </p:spPr>
      </p:pic>
      <p:pic>
        <p:nvPicPr>
          <p:cNvPr id="76" name="Picture 14" descr="LOGO-SP-PT-HORIZONTAL.png"/>
          <p:cNvPicPr/>
          <p:nvPr/>
        </p:nvPicPr>
        <p:blipFill>
          <a:blip r:embed="rId2"/>
          <a:stretch/>
        </p:blipFill>
        <p:spPr>
          <a:xfrm>
            <a:off x="9668520" y="5452200"/>
            <a:ext cx="2626200" cy="1074240"/>
          </a:xfrm>
          <a:prstGeom prst="rect">
            <a:avLst/>
          </a:prstGeom>
          <a:ln w="0">
            <a:noFill/>
          </a:ln>
        </p:spPr>
      </p:pic>
      <p:pic>
        <p:nvPicPr>
          <p:cNvPr id="77" name="Picture 15" descr="fatec_ra_baixada_santista_baixada_santista_rubens_lara_cor.png"/>
          <p:cNvPicPr/>
          <p:nvPr/>
        </p:nvPicPr>
        <p:blipFill>
          <a:blip r:embed="rId3"/>
          <a:stretch/>
        </p:blipFill>
        <p:spPr>
          <a:xfrm>
            <a:off x="10118880" y="2329560"/>
            <a:ext cx="2030760" cy="1069560"/>
          </a:xfrm>
          <a:prstGeom prst="rect">
            <a:avLst/>
          </a:prstGeom>
          <a:ln w="0">
            <a:noFill/>
          </a:ln>
        </p:spPr>
      </p:pic>
      <p:pic>
        <p:nvPicPr>
          <p:cNvPr id="78" name="Graphic 16" descr="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10577160" y="3787560"/>
            <a:ext cx="1393560" cy="1042920"/>
          </a:xfrm>
          <a:prstGeom prst="rect">
            <a:avLst/>
          </a:prstGeom>
          <a:ln w="0">
            <a:noFill/>
          </a:ln>
        </p:spPr>
      </p:pic>
      <p:pic>
        <p:nvPicPr>
          <p:cNvPr id="79" name="" descr=""/>
          <p:cNvPicPr/>
          <p:nvPr/>
        </p:nvPicPr>
        <p:blipFill>
          <a:blip r:embed="rId6"/>
          <a:stretch/>
        </p:blipFill>
        <p:spPr>
          <a:xfrm>
            <a:off x="900000" y="2160000"/>
            <a:ext cx="8564760" cy="3144240"/>
          </a:xfrm>
          <a:prstGeom prst="rect">
            <a:avLst/>
          </a:prstGeom>
          <a:ln w="0">
            <a:noFill/>
          </a:ln>
        </p:spPr>
      </p:pic>
      <p:sp>
        <p:nvSpPr>
          <p:cNvPr id="80" name="TextBox 13"/>
          <p:cNvSpPr/>
          <p:nvPr/>
        </p:nvSpPr>
        <p:spPr>
          <a:xfrm>
            <a:off x="3251520" y="457200"/>
            <a:ext cx="19155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Motivação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2187800" cy="227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Rectangle 2"/>
          <p:cNvSpPr/>
          <p:nvPr/>
        </p:nvSpPr>
        <p:spPr>
          <a:xfrm>
            <a:off x="0" y="6656760"/>
            <a:ext cx="12187800" cy="20016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Rectangle 3"/>
          <p:cNvSpPr/>
          <p:nvPr/>
        </p:nvSpPr>
        <p:spPr>
          <a:xfrm>
            <a:off x="0" y="228600"/>
            <a:ext cx="136080" cy="63997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917640" y="720000"/>
            <a:ext cx="73623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Categoria Learn, morfismos e composição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ounded Rectangle 6"/>
          <p:cNvSpPr/>
          <p:nvPr/>
        </p:nvSpPr>
        <p:spPr>
          <a:xfrm>
            <a:off x="548640" y="1411560"/>
            <a:ext cx="9118800" cy="4479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86" name="Picture 13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240" cy="1421280"/>
          </a:xfrm>
          <a:prstGeom prst="rect">
            <a:avLst/>
          </a:prstGeom>
          <a:ln w="0">
            <a:noFill/>
          </a:ln>
        </p:spPr>
      </p:pic>
      <p:pic>
        <p:nvPicPr>
          <p:cNvPr id="87" name="Picture 14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0760" cy="1069560"/>
          </a:xfrm>
          <a:prstGeom prst="rect">
            <a:avLst/>
          </a:prstGeom>
          <a:ln w="0">
            <a:noFill/>
          </a:ln>
        </p:spPr>
      </p:pic>
      <p:pic>
        <p:nvPicPr>
          <p:cNvPr id="88" name="Graphic 15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560" cy="1042920"/>
          </a:xfrm>
          <a:prstGeom prst="rect">
            <a:avLst/>
          </a:prstGeom>
          <a:ln w="0">
            <a:noFill/>
          </a:ln>
        </p:spPr>
      </p:pic>
      <p:pic>
        <p:nvPicPr>
          <p:cNvPr id="89" name="Picture 16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200" cy="1074240"/>
          </a:xfrm>
          <a:prstGeom prst="rect">
            <a:avLst/>
          </a:prstGeom>
          <a:ln w="0">
            <a:noFill/>
          </a:ln>
        </p:spPr>
      </p:pic>
      <p:pic>
        <p:nvPicPr>
          <p:cNvPr id="90" name="" descr=""/>
          <p:cNvPicPr/>
          <p:nvPr/>
        </p:nvPicPr>
        <p:blipFill>
          <a:blip r:embed="rId6"/>
          <a:stretch/>
        </p:blipFill>
        <p:spPr>
          <a:xfrm>
            <a:off x="1032480" y="1620000"/>
            <a:ext cx="8078400" cy="395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7"/>
          <p:cNvSpPr/>
          <p:nvPr/>
        </p:nvSpPr>
        <p:spPr>
          <a:xfrm>
            <a:off x="0" y="0"/>
            <a:ext cx="12187800" cy="227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Rectangle 8"/>
          <p:cNvSpPr/>
          <p:nvPr/>
        </p:nvSpPr>
        <p:spPr>
          <a:xfrm>
            <a:off x="0" y="6656760"/>
            <a:ext cx="12187800" cy="20016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Rectangle 9"/>
          <p:cNvSpPr/>
          <p:nvPr/>
        </p:nvSpPr>
        <p:spPr>
          <a:xfrm>
            <a:off x="0" y="228600"/>
            <a:ext cx="136080" cy="63997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3230280" y="457200"/>
            <a:ext cx="19566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O funtor </a:t>
            </a:r>
            <a:r>
              <a:rPr b="1" lang="en-US" sz="2800" spc="-1" strike="noStrike">
                <a:solidFill>
                  <a:srgbClr val="00285a"/>
                </a:solidFill>
                <a:latin typeface="MathJax_Caligraphic"/>
                <a:ea typeface="MathJax_Caligraphic"/>
              </a:rPr>
              <a:t>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ounded Rectangle 2"/>
          <p:cNvSpPr/>
          <p:nvPr/>
        </p:nvSpPr>
        <p:spPr>
          <a:xfrm>
            <a:off x="548640" y="1280160"/>
            <a:ext cx="9343800" cy="4957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96" name="Picture 6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240" cy="1421280"/>
          </a:xfrm>
          <a:prstGeom prst="rect">
            <a:avLst/>
          </a:prstGeom>
          <a:ln w="0">
            <a:noFill/>
          </a:ln>
        </p:spPr>
      </p:pic>
      <p:pic>
        <p:nvPicPr>
          <p:cNvPr id="97" name="Picture 7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0760" cy="1069560"/>
          </a:xfrm>
          <a:prstGeom prst="rect">
            <a:avLst/>
          </a:prstGeom>
          <a:ln w="0">
            <a:noFill/>
          </a:ln>
        </p:spPr>
      </p:pic>
      <p:pic>
        <p:nvPicPr>
          <p:cNvPr id="98" name="Graphic 2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560" cy="1042920"/>
          </a:xfrm>
          <a:prstGeom prst="rect">
            <a:avLst/>
          </a:prstGeom>
          <a:ln w="0">
            <a:noFill/>
          </a:ln>
        </p:spPr>
      </p:pic>
      <p:pic>
        <p:nvPicPr>
          <p:cNvPr id="99" name="Picture 8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200" cy="1074240"/>
          </a:xfrm>
          <a:prstGeom prst="rect">
            <a:avLst/>
          </a:prstGeom>
          <a:ln w="0">
            <a:noFill/>
          </a:ln>
        </p:spPr>
      </p:pic>
      <p:pic>
        <p:nvPicPr>
          <p:cNvPr id="100" name="" descr=""/>
          <p:cNvPicPr/>
          <p:nvPr/>
        </p:nvPicPr>
        <p:blipFill>
          <a:blip r:embed="rId6"/>
          <a:stretch/>
        </p:blipFill>
        <p:spPr>
          <a:xfrm>
            <a:off x="848520" y="1800000"/>
            <a:ext cx="8819280" cy="408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"/>
          <p:cNvSpPr/>
          <p:nvPr/>
        </p:nvSpPr>
        <p:spPr>
          <a:xfrm>
            <a:off x="0" y="0"/>
            <a:ext cx="12187800" cy="227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Rectangle 11"/>
          <p:cNvSpPr/>
          <p:nvPr/>
        </p:nvSpPr>
        <p:spPr>
          <a:xfrm>
            <a:off x="0" y="6656760"/>
            <a:ext cx="12187800" cy="20016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Rectangle 12"/>
          <p:cNvSpPr/>
          <p:nvPr/>
        </p:nvSpPr>
        <p:spPr>
          <a:xfrm>
            <a:off x="0" y="228600"/>
            <a:ext cx="136080" cy="63997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1850760" y="457200"/>
            <a:ext cx="4718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Implementação em Haskell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ounded Rectangle 3"/>
          <p:cNvSpPr/>
          <p:nvPr/>
        </p:nvSpPr>
        <p:spPr>
          <a:xfrm>
            <a:off x="548640" y="1280160"/>
            <a:ext cx="9343800" cy="4957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06" name="Picture 9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240" cy="1421280"/>
          </a:xfrm>
          <a:prstGeom prst="rect">
            <a:avLst/>
          </a:prstGeom>
          <a:ln w="0">
            <a:noFill/>
          </a:ln>
        </p:spPr>
      </p:pic>
      <p:pic>
        <p:nvPicPr>
          <p:cNvPr id="107" name="Picture 18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0760" cy="1069560"/>
          </a:xfrm>
          <a:prstGeom prst="rect">
            <a:avLst/>
          </a:prstGeom>
          <a:ln w="0">
            <a:noFill/>
          </a:ln>
        </p:spPr>
      </p:pic>
      <p:pic>
        <p:nvPicPr>
          <p:cNvPr id="108" name="Graphic 3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560" cy="1042920"/>
          </a:xfrm>
          <a:prstGeom prst="rect">
            <a:avLst/>
          </a:prstGeom>
          <a:ln w="0">
            <a:noFill/>
          </a:ln>
        </p:spPr>
      </p:pic>
      <p:pic>
        <p:nvPicPr>
          <p:cNvPr id="109" name="Picture 19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200" cy="1074240"/>
          </a:xfrm>
          <a:prstGeom prst="rect">
            <a:avLst/>
          </a:prstGeom>
          <a:ln w="0">
            <a:noFill/>
          </a:ln>
        </p:spPr>
      </p:pic>
      <p:pic>
        <p:nvPicPr>
          <p:cNvPr id="110" name="" descr=""/>
          <p:cNvPicPr/>
          <p:nvPr/>
        </p:nvPicPr>
        <p:blipFill>
          <a:blip r:embed="rId6"/>
          <a:stretch/>
        </p:blipFill>
        <p:spPr>
          <a:xfrm>
            <a:off x="683280" y="1836000"/>
            <a:ext cx="9072720" cy="386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Rectangle 4"/>
          <p:cNvSpPr/>
          <p:nvPr/>
        </p:nvSpPr>
        <p:spPr>
          <a:xfrm>
            <a:off x="0" y="0"/>
            <a:ext cx="12187800" cy="227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2" name="Rectangle 5"/>
          <p:cNvSpPr/>
          <p:nvPr/>
        </p:nvSpPr>
        <p:spPr>
          <a:xfrm>
            <a:off x="0" y="6656760"/>
            <a:ext cx="12187800" cy="20016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Rectangle 6"/>
          <p:cNvSpPr/>
          <p:nvPr/>
        </p:nvSpPr>
        <p:spPr>
          <a:xfrm>
            <a:off x="0" y="228600"/>
            <a:ext cx="136080" cy="63997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1"/>
          <p:cNvSpPr/>
          <p:nvPr/>
        </p:nvSpPr>
        <p:spPr>
          <a:xfrm>
            <a:off x="1850760" y="457200"/>
            <a:ext cx="4718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Implementação em Haskell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ounded Rectangle 1"/>
          <p:cNvSpPr/>
          <p:nvPr/>
        </p:nvSpPr>
        <p:spPr>
          <a:xfrm>
            <a:off x="548640" y="1280160"/>
            <a:ext cx="9343800" cy="4957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16" name="Picture 1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240" cy="1421280"/>
          </a:xfrm>
          <a:prstGeom prst="rect">
            <a:avLst/>
          </a:prstGeom>
          <a:ln w="0">
            <a:noFill/>
          </a:ln>
        </p:spPr>
      </p:pic>
      <p:pic>
        <p:nvPicPr>
          <p:cNvPr id="117" name="Picture 2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0760" cy="1069560"/>
          </a:xfrm>
          <a:prstGeom prst="rect">
            <a:avLst/>
          </a:prstGeom>
          <a:ln w="0">
            <a:noFill/>
          </a:ln>
        </p:spPr>
      </p:pic>
      <p:pic>
        <p:nvPicPr>
          <p:cNvPr id="118" name="Graphic 1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560" cy="1042920"/>
          </a:xfrm>
          <a:prstGeom prst="rect">
            <a:avLst/>
          </a:prstGeom>
          <a:ln w="0">
            <a:noFill/>
          </a:ln>
        </p:spPr>
      </p:pic>
      <p:pic>
        <p:nvPicPr>
          <p:cNvPr id="119" name="Picture 3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200" cy="1074240"/>
          </a:xfrm>
          <a:prstGeom prst="rect">
            <a:avLst/>
          </a:prstGeom>
          <a:ln w="0">
            <a:noFill/>
          </a:ln>
        </p:spPr>
      </p:pic>
      <p:pic>
        <p:nvPicPr>
          <p:cNvPr id="120" name="" descr=""/>
          <p:cNvPicPr/>
          <p:nvPr/>
        </p:nvPicPr>
        <p:blipFill>
          <a:blip r:embed="rId6"/>
          <a:stretch/>
        </p:blipFill>
        <p:spPr>
          <a:xfrm>
            <a:off x="634680" y="2038680"/>
            <a:ext cx="9193320" cy="3325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3"/>
          <p:cNvSpPr/>
          <p:nvPr/>
        </p:nvSpPr>
        <p:spPr>
          <a:xfrm>
            <a:off x="0" y="0"/>
            <a:ext cx="12187800" cy="227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Rectangle 14"/>
          <p:cNvSpPr/>
          <p:nvPr/>
        </p:nvSpPr>
        <p:spPr>
          <a:xfrm>
            <a:off x="0" y="6656760"/>
            <a:ext cx="12187800" cy="20016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Rectangle 15"/>
          <p:cNvSpPr/>
          <p:nvPr/>
        </p:nvSpPr>
        <p:spPr>
          <a:xfrm>
            <a:off x="0" y="228600"/>
            <a:ext cx="136080" cy="63997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TextBox 9"/>
          <p:cNvSpPr/>
          <p:nvPr/>
        </p:nvSpPr>
        <p:spPr>
          <a:xfrm>
            <a:off x="1014840" y="457200"/>
            <a:ext cx="6394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Modelos – Regressor Linear Simples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ounded Rectangle 4"/>
          <p:cNvSpPr/>
          <p:nvPr/>
        </p:nvSpPr>
        <p:spPr>
          <a:xfrm>
            <a:off x="548640" y="1280160"/>
            <a:ext cx="9343800" cy="4957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26" name="Picture 20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240" cy="1421280"/>
          </a:xfrm>
          <a:prstGeom prst="rect">
            <a:avLst/>
          </a:prstGeom>
          <a:ln w="0">
            <a:noFill/>
          </a:ln>
        </p:spPr>
      </p:pic>
      <p:pic>
        <p:nvPicPr>
          <p:cNvPr id="127" name="Picture 21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0760" cy="1069560"/>
          </a:xfrm>
          <a:prstGeom prst="rect">
            <a:avLst/>
          </a:prstGeom>
          <a:ln w="0">
            <a:noFill/>
          </a:ln>
        </p:spPr>
      </p:pic>
      <p:pic>
        <p:nvPicPr>
          <p:cNvPr id="128" name="Graphic 4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560" cy="1042920"/>
          </a:xfrm>
          <a:prstGeom prst="rect">
            <a:avLst/>
          </a:prstGeom>
          <a:ln w="0">
            <a:noFill/>
          </a:ln>
        </p:spPr>
      </p:pic>
      <p:pic>
        <p:nvPicPr>
          <p:cNvPr id="129" name="Picture 22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200" cy="1074240"/>
          </a:xfrm>
          <a:prstGeom prst="rect">
            <a:avLst/>
          </a:prstGeom>
          <a:ln w="0">
            <a:noFill/>
          </a:ln>
        </p:spPr>
      </p:pic>
      <p:pic>
        <p:nvPicPr>
          <p:cNvPr id="130" name="" descr=""/>
          <p:cNvPicPr/>
          <p:nvPr/>
        </p:nvPicPr>
        <p:blipFill>
          <a:blip r:embed="rId6"/>
          <a:stretch/>
        </p:blipFill>
        <p:spPr>
          <a:xfrm>
            <a:off x="892800" y="1620000"/>
            <a:ext cx="8646480" cy="4240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6"/>
          <p:cNvSpPr/>
          <p:nvPr/>
        </p:nvSpPr>
        <p:spPr>
          <a:xfrm>
            <a:off x="0" y="0"/>
            <a:ext cx="12187800" cy="227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Rectangle 17"/>
          <p:cNvSpPr/>
          <p:nvPr/>
        </p:nvSpPr>
        <p:spPr>
          <a:xfrm>
            <a:off x="0" y="6656760"/>
            <a:ext cx="12187800" cy="20016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Rectangle 18"/>
          <p:cNvSpPr/>
          <p:nvPr/>
        </p:nvSpPr>
        <p:spPr>
          <a:xfrm>
            <a:off x="0" y="228600"/>
            <a:ext cx="136080" cy="63997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TextBox 12"/>
          <p:cNvSpPr/>
          <p:nvPr/>
        </p:nvSpPr>
        <p:spPr>
          <a:xfrm>
            <a:off x="1014840" y="457200"/>
            <a:ext cx="6394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Modelos – Regressor Linear Simples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Rounded Rectangle 5"/>
          <p:cNvSpPr/>
          <p:nvPr/>
        </p:nvSpPr>
        <p:spPr>
          <a:xfrm>
            <a:off x="548640" y="1280160"/>
            <a:ext cx="9343800" cy="4957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36" name="Picture 23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240" cy="1421280"/>
          </a:xfrm>
          <a:prstGeom prst="rect">
            <a:avLst/>
          </a:prstGeom>
          <a:ln w="0">
            <a:noFill/>
          </a:ln>
        </p:spPr>
      </p:pic>
      <p:pic>
        <p:nvPicPr>
          <p:cNvPr id="137" name="Picture 24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0760" cy="1069560"/>
          </a:xfrm>
          <a:prstGeom prst="rect">
            <a:avLst/>
          </a:prstGeom>
          <a:ln w="0">
            <a:noFill/>
          </a:ln>
        </p:spPr>
      </p:pic>
      <p:pic>
        <p:nvPicPr>
          <p:cNvPr id="138" name="Graphic 5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560" cy="1042920"/>
          </a:xfrm>
          <a:prstGeom prst="rect">
            <a:avLst/>
          </a:prstGeom>
          <a:ln w="0">
            <a:noFill/>
          </a:ln>
        </p:spPr>
      </p:pic>
      <p:pic>
        <p:nvPicPr>
          <p:cNvPr id="139" name="Picture 25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200" cy="1074240"/>
          </a:xfrm>
          <a:prstGeom prst="rect">
            <a:avLst/>
          </a:prstGeom>
          <a:ln w="0">
            <a:noFill/>
          </a:ln>
        </p:spPr>
      </p:pic>
      <p:pic>
        <p:nvPicPr>
          <p:cNvPr id="140" name="" descr=""/>
          <p:cNvPicPr/>
          <p:nvPr/>
        </p:nvPicPr>
        <p:blipFill>
          <a:blip r:embed="rId6"/>
          <a:stretch/>
        </p:blipFill>
        <p:spPr>
          <a:xfrm>
            <a:off x="900000" y="1620000"/>
            <a:ext cx="8721720" cy="431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22"/>
          <p:cNvSpPr/>
          <p:nvPr/>
        </p:nvSpPr>
        <p:spPr>
          <a:xfrm>
            <a:off x="0" y="0"/>
            <a:ext cx="12187800" cy="227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Rectangle 23"/>
          <p:cNvSpPr/>
          <p:nvPr/>
        </p:nvSpPr>
        <p:spPr>
          <a:xfrm>
            <a:off x="0" y="6656760"/>
            <a:ext cx="12187800" cy="20016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Rectangle 24"/>
          <p:cNvSpPr/>
          <p:nvPr/>
        </p:nvSpPr>
        <p:spPr>
          <a:xfrm>
            <a:off x="0" y="228600"/>
            <a:ext cx="136080" cy="63997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TextBox 14"/>
          <p:cNvSpPr/>
          <p:nvPr/>
        </p:nvSpPr>
        <p:spPr>
          <a:xfrm>
            <a:off x="631080" y="457200"/>
            <a:ext cx="7164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Modelos – Regressor Linear Padronizado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ounded Rectangle 8"/>
          <p:cNvSpPr/>
          <p:nvPr/>
        </p:nvSpPr>
        <p:spPr>
          <a:xfrm>
            <a:off x="548640" y="1280160"/>
            <a:ext cx="9343800" cy="4957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46" name="Picture 29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240" cy="1421280"/>
          </a:xfrm>
          <a:prstGeom prst="rect">
            <a:avLst/>
          </a:prstGeom>
          <a:ln w="0">
            <a:noFill/>
          </a:ln>
        </p:spPr>
      </p:pic>
      <p:pic>
        <p:nvPicPr>
          <p:cNvPr id="147" name="Picture 30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0760" cy="1069560"/>
          </a:xfrm>
          <a:prstGeom prst="rect">
            <a:avLst/>
          </a:prstGeom>
          <a:ln w="0">
            <a:noFill/>
          </a:ln>
        </p:spPr>
      </p:pic>
      <p:pic>
        <p:nvPicPr>
          <p:cNvPr id="148" name="Graphic 7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560" cy="1042920"/>
          </a:xfrm>
          <a:prstGeom prst="rect">
            <a:avLst/>
          </a:prstGeom>
          <a:ln w="0">
            <a:noFill/>
          </a:ln>
        </p:spPr>
      </p:pic>
      <p:pic>
        <p:nvPicPr>
          <p:cNvPr id="149" name="Picture 31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200" cy="1074240"/>
          </a:xfrm>
          <a:prstGeom prst="rect">
            <a:avLst/>
          </a:prstGeom>
          <a:ln w="0">
            <a:noFill/>
          </a:ln>
        </p:spPr>
      </p:pic>
      <p:pic>
        <p:nvPicPr>
          <p:cNvPr id="150" name="" descr=""/>
          <p:cNvPicPr/>
          <p:nvPr/>
        </p:nvPicPr>
        <p:blipFill>
          <a:blip r:embed="rId6"/>
          <a:stretch/>
        </p:blipFill>
        <p:spPr>
          <a:xfrm>
            <a:off x="734760" y="1620000"/>
            <a:ext cx="8984520" cy="413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25"/>
          <p:cNvSpPr/>
          <p:nvPr/>
        </p:nvSpPr>
        <p:spPr>
          <a:xfrm>
            <a:off x="0" y="0"/>
            <a:ext cx="12187800" cy="227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Rectangle 26"/>
          <p:cNvSpPr/>
          <p:nvPr/>
        </p:nvSpPr>
        <p:spPr>
          <a:xfrm>
            <a:off x="0" y="6656760"/>
            <a:ext cx="12187800" cy="20016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Rectangle 27"/>
          <p:cNvSpPr/>
          <p:nvPr/>
        </p:nvSpPr>
        <p:spPr>
          <a:xfrm>
            <a:off x="0" y="228600"/>
            <a:ext cx="136080" cy="63997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TextBox 15"/>
          <p:cNvSpPr/>
          <p:nvPr/>
        </p:nvSpPr>
        <p:spPr>
          <a:xfrm>
            <a:off x="631080" y="457200"/>
            <a:ext cx="7164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Modelos – Regressor Linear Padronizado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Rounded Rectangle 9"/>
          <p:cNvSpPr/>
          <p:nvPr/>
        </p:nvSpPr>
        <p:spPr>
          <a:xfrm>
            <a:off x="548640" y="1280160"/>
            <a:ext cx="9343800" cy="4957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56" name="Picture 32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240" cy="1421280"/>
          </a:xfrm>
          <a:prstGeom prst="rect">
            <a:avLst/>
          </a:prstGeom>
          <a:ln w="0">
            <a:noFill/>
          </a:ln>
        </p:spPr>
      </p:pic>
      <p:pic>
        <p:nvPicPr>
          <p:cNvPr id="157" name="Picture 33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0760" cy="1069560"/>
          </a:xfrm>
          <a:prstGeom prst="rect">
            <a:avLst/>
          </a:prstGeom>
          <a:ln w="0">
            <a:noFill/>
          </a:ln>
        </p:spPr>
      </p:pic>
      <p:pic>
        <p:nvPicPr>
          <p:cNvPr id="158" name="Graphic 8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560" cy="1042920"/>
          </a:xfrm>
          <a:prstGeom prst="rect">
            <a:avLst/>
          </a:prstGeom>
          <a:ln w="0">
            <a:noFill/>
          </a:ln>
        </p:spPr>
      </p:pic>
      <p:pic>
        <p:nvPicPr>
          <p:cNvPr id="159" name="Picture 34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200" cy="1074240"/>
          </a:xfrm>
          <a:prstGeom prst="rect">
            <a:avLst/>
          </a:prstGeom>
          <a:ln w="0">
            <a:noFill/>
          </a:ln>
        </p:spPr>
      </p:pic>
      <p:pic>
        <p:nvPicPr>
          <p:cNvPr id="160" name="" descr=""/>
          <p:cNvPicPr/>
          <p:nvPr/>
        </p:nvPicPr>
        <p:blipFill>
          <a:blip r:embed="rId6"/>
          <a:stretch/>
        </p:blipFill>
        <p:spPr>
          <a:xfrm>
            <a:off x="900000" y="1620000"/>
            <a:ext cx="8639280" cy="4310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Rectangle 28"/>
          <p:cNvSpPr/>
          <p:nvPr/>
        </p:nvSpPr>
        <p:spPr>
          <a:xfrm>
            <a:off x="0" y="0"/>
            <a:ext cx="12187800" cy="227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Rectangle 29"/>
          <p:cNvSpPr/>
          <p:nvPr/>
        </p:nvSpPr>
        <p:spPr>
          <a:xfrm>
            <a:off x="0" y="6656760"/>
            <a:ext cx="12187800" cy="20016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Rectangle 30"/>
          <p:cNvSpPr/>
          <p:nvPr/>
        </p:nvSpPr>
        <p:spPr>
          <a:xfrm>
            <a:off x="0" y="228600"/>
            <a:ext cx="136080" cy="63997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4" name="TextBox 16"/>
          <p:cNvSpPr/>
          <p:nvPr/>
        </p:nvSpPr>
        <p:spPr>
          <a:xfrm>
            <a:off x="1379160" y="457200"/>
            <a:ext cx="56646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Modelos – Regressor Polinomial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Rounded Rectangle 10"/>
          <p:cNvSpPr/>
          <p:nvPr/>
        </p:nvSpPr>
        <p:spPr>
          <a:xfrm>
            <a:off x="548640" y="1280160"/>
            <a:ext cx="9343800" cy="4957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66" name="Picture 35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240" cy="1421280"/>
          </a:xfrm>
          <a:prstGeom prst="rect">
            <a:avLst/>
          </a:prstGeom>
          <a:ln w="0">
            <a:noFill/>
          </a:ln>
        </p:spPr>
      </p:pic>
      <p:pic>
        <p:nvPicPr>
          <p:cNvPr id="167" name="Picture 36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0760" cy="1069560"/>
          </a:xfrm>
          <a:prstGeom prst="rect">
            <a:avLst/>
          </a:prstGeom>
          <a:ln w="0">
            <a:noFill/>
          </a:ln>
        </p:spPr>
      </p:pic>
      <p:pic>
        <p:nvPicPr>
          <p:cNvPr id="168" name="Graphic 9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560" cy="1042920"/>
          </a:xfrm>
          <a:prstGeom prst="rect">
            <a:avLst/>
          </a:prstGeom>
          <a:ln w="0">
            <a:noFill/>
          </a:ln>
        </p:spPr>
      </p:pic>
      <p:pic>
        <p:nvPicPr>
          <p:cNvPr id="169" name="Picture 37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200" cy="1074240"/>
          </a:xfrm>
          <a:prstGeom prst="rect">
            <a:avLst/>
          </a:prstGeom>
          <a:ln w="0">
            <a:noFill/>
          </a:ln>
        </p:spPr>
      </p:pic>
      <p:pic>
        <p:nvPicPr>
          <p:cNvPr id="170" name="" descr=""/>
          <p:cNvPicPr/>
          <p:nvPr/>
        </p:nvPicPr>
        <p:blipFill>
          <a:blip r:embed="rId6"/>
          <a:stretch/>
        </p:blipFill>
        <p:spPr>
          <a:xfrm>
            <a:off x="856080" y="1620000"/>
            <a:ext cx="8755200" cy="4232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31"/>
          <p:cNvSpPr/>
          <p:nvPr/>
        </p:nvSpPr>
        <p:spPr>
          <a:xfrm>
            <a:off x="0" y="0"/>
            <a:ext cx="12187800" cy="227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Rectangle 32"/>
          <p:cNvSpPr/>
          <p:nvPr/>
        </p:nvSpPr>
        <p:spPr>
          <a:xfrm>
            <a:off x="0" y="6656760"/>
            <a:ext cx="12187800" cy="20016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Rectangle 33"/>
          <p:cNvSpPr/>
          <p:nvPr/>
        </p:nvSpPr>
        <p:spPr>
          <a:xfrm>
            <a:off x="0" y="228600"/>
            <a:ext cx="136080" cy="63997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TextBox 17"/>
          <p:cNvSpPr/>
          <p:nvPr/>
        </p:nvSpPr>
        <p:spPr>
          <a:xfrm>
            <a:off x="1380600" y="457200"/>
            <a:ext cx="56646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Modelos – Regressor Polinomial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ounded Rectangle 11"/>
          <p:cNvSpPr/>
          <p:nvPr/>
        </p:nvSpPr>
        <p:spPr>
          <a:xfrm>
            <a:off x="548640" y="1280160"/>
            <a:ext cx="9343800" cy="4957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76" name="Picture 38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240" cy="1421280"/>
          </a:xfrm>
          <a:prstGeom prst="rect">
            <a:avLst/>
          </a:prstGeom>
          <a:ln w="0">
            <a:noFill/>
          </a:ln>
        </p:spPr>
      </p:pic>
      <p:pic>
        <p:nvPicPr>
          <p:cNvPr id="177" name="Picture 39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0760" cy="1069560"/>
          </a:xfrm>
          <a:prstGeom prst="rect">
            <a:avLst/>
          </a:prstGeom>
          <a:ln w="0">
            <a:noFill/>
          </a:ln>
        </p:spPr>
      </p:pic>
      <p:pic>
        <p:nvPicPr>
          <p:cNvPr id="178" name="Graphic 10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560" cy="1042920"/>
          </a:xfrm>
          <a:prstGeom prst="rect">
            <a:avLst/>
          </a:prstGeom>
          <a:ln w="0">
            <a:noFill/>
          </a:ln>
        </p:spPr>
      </p:pic>
      <p:pic>
        <p:nvPicPr>
          <p:cNvPr id="179" name="Picture 40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200" cy="10742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6"/>
          <a:stretch/>
        </p:blipFill>
        <p:spPr>
          <a:xfrm>
            <a:off x="828720" y="1656000"/>
            <a:ext cx="8746560" cy="419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34"/>
          <p:cNvSpPr/>
          <p:nvPr/>
        </p:nvSpPr>
        <p:spPr>
          <a:xfrm>
            <a:off x="0" y="0"/>
            <a:ext cx="12187800" cy="227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Rectangle 35"/>
          <p:cNvSpPr/>
          <p:nvPr/>
        </p:nvSpPr>
        <p:spPr>
          <a:xfrm>
            <a:off x="0" y="6656760"/>
            <a:ext cx="12187800" cy="20016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Rectangle 36"/>
          <p:cNvSpPr/>
          <p:nvPr/>
        </p:nvSpPr>
        <p:spPr>
          <a:xfrm>
            <a:off x="0" y="228600"/>
            <a:ext cx="136080" cy="63997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TextBox 18"/>
          <p:cNvSpPr/>
          <p:nvPr/>
        </p:nvSpPr>
        <p:spPr>
          <a:xfrm>
            <a:off x="3113640" y="457200"/>
            <a:ext cx="21913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Conclusões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Rounded Rectangle 12"/>
          <p:cNvSpPr/>
          <p:nvPr/>
        </p:nvSpPr>
        <p:spPr>
          <a:xfrm>
            <a:off x="548640" y="1280160"/>
            <a:ext cx="9343800" cy="4957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86" name="Picture 41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240" cy="1421280"/>
          </a:xfrm>
          <a:prstGeom prst="rect">
            <a:avLst/>
          </a:prstGeom>
          <a:ln w="0">
            <a:noFill/>
          </a:ln>
        </p:spPr>
      </p:pic>
      <p:pic>
        <p:nvPicPr>
          <p:cNvPr id="187" name="Picture 42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0760" cy="1069560"/>
          </a:xfrm>
          <a:prstGeom prst="rect">
            <a:avLst/>
          </a:prstGeom>
          <a:ln w="0">
            <a:noFill/>
          </a:ln>
        </p:spPr>
      </p:pic>
      <p:pic>
        <p:nvPicPr>
          <p:cNvPr id="188" name="Graphic 11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560" cy="1042920"/>
          </a:xfrm>
          <a:prstGeom prst="rect">
            <a:avLst/>
          </a:prstGeom>
          <a:ln w="0">
            <a:noFill/>
          </a:ln>
        </p:spPr>
      </p:pic>
      <p:pic>
        <p:nvPicPr>
          <p:cNvPr id="189" name="Picture 43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200" cy="1074240"/>
          </a:xfrm>
          <a:prstGeom prst="rect">
            <a:avLst/>
          </a:prstGeom>
          <a:ln w="0">
            <a:noFill/>
          </a:ln>
        </p:spPr>
      </p:pic>
      <p:pic>
        <p:nvPicPr>
          <p:cNvPr id="190" name="" descr=""/>
          <p:cNvPicPr/>
          <p:nvPr/>
        </p:nvPicPr>
        <p:blipFill>
          <a:blip r:embed="rId6"/>
          <a:stretch/>
        </p:blipFill>
        <p:spPr>
          <a:xfrm>
            <a:off x="684000" y="2376000"/>
            <a:ext cx="9086040" cy="269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37"/>
          <p:cNvSpPr/>
          <p:nvPr/>
        </p:nvSpPr>
        <p:spPr>
          <a:xfrm>
            <a:off x="0" y="0"/>
            <a:ext cx="12187800" cy="227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Rectangle 38"/>
          <p:cNvSpPr/>
          <p:nvPr/>
        </p:nvSpPr>
        <p:spPr>
          <a:xfrm>
            <a:off x="0" y="6656760"/>
            <a:ext cx="12187800" cy="20016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3" name="Rectangle 39"/>
          <p:cNvSpPr/>
          <p:nvPr/>
        </p:nvSpPr>
        <p:spPr>
          <a:xfrm>
            <a:off x="0" y="228600"/>
            <a:ext cx="136080" cy="63997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TextBox 19"/>
          <p:cNvSpPr/>
          <p:nvPr/>
        </p:nvSpPr>
        <p:spPr>
          <a:xfrm>
            <a:off x="3112920" y="457200"/>
            <a:ext cx="2192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800" spc="-1" strike="noStrike">
                <a:solidFill>
                  <a:srgbClr val="00285a"/>
                </a:solidFill>
                <a:latin typeface="Arial"/>
              </a:rPr>
              <a:t>Referências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ounded Rectangle 13"/>
          <p:cNvSpPr/>
          <p:nvPr/>
        </p:nvSpPr>
        <p:spPr>
          <a:xfrm>
            <a:off x="548640" y="1280160"/>
            <a:ext cx="9343800" cy="4957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196" name="Picture 44" descr="logo_simposio_autalizado copy.png"/>
          <p:cNvPicPr/>
          <p:nvPr/>
        </p:nvPicPr>
        <p:blipFill>
          <a:blip r:embed="rId1"/>
          <a:stretch/>
        </p:blipFill>
        <p:spPr>
          <a:xfrm>
            <a:off x="10013760" y="330480"/>
            <a:ext cx="2136240" cy="1421280"/>
          </a:xfrm>
          <a:prstGeom prst="rect">
            <a:avLst/>
          </a:prstGeom>
          <a:ln w="0">
            <a:noFill/>
          </a:ln>
        </p:spPr>
      </p:pic>
      <p:pic>
        <p:nvPicPr>
          <p:cNvPr id="197" name="Picture 45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10118880" y="2329560"/>
            <a:ext cx="2030760" cy="1069560"/>
          </a:xfrm>
          <a:prstGeom prst="rect">
            <a:avLst/>
          </a:prstGeom>
          <a:ln w="0">
            <a:noFill/>
          </a:ln>
        </p:spPr>
      </p:pic>
      <p:pic>
        <p:nvPicPr>
          <p:cNvPr id="198" name="Graphic 12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0577160" y="3787560"/>
            <a:ext cx="1393560" cy="1042920"/>
          </a:xfrm>
          <a:prstGeom prst="rect">
            <a:avLst/>
          </a:prstGeom>
          <a:ln w="0">
            <a:noFill/>
          </a:ln>
        </p:spPr>
      </p:pic>
      <p:pic>
        <p:nvPicPr>
          <p:cNvPr id="199" name="Picture 46" descr="LOGO-SP-PT-HORIZONTAL.png"/>
          <p:cNvPicPr/>
          <p:nvPr/>
        </p:nvPicPr>
        <p:blipFill>
          <a:blip r:embed="rId5"/>
          <a:stretch/>
        </p:blipFill>
        <p:spPr>
          <a:xfrm>
            <a:off x="9668520" y="5452200"/>
            <a:ext cx="2626200" cy="1074240"/>
          </a:xfrm>
          <a:prstGeom prst="rect">
            <a:avLst/>
          </a:prstGeom>
          <a:ln w="0">
            <a:noFill/>
          </a:ln>
        </p:spPr>
      </p:pic>
      <p:pic>
        <p:nvPicPr>
          <p:cNvPr id="200" name="" descr=""/>
          <p:cNvPicPr/>
          <p:nvPr/>
        </p:nvPicPr>
        <p:blipFill>
          <a:blip r:embed="rId6"/>
          <a:stretch/>
        </p:blipFill>
        <p:spPr>
          <a:xfrm>
            <a:off x="1089360" y="3164040"/>
            <a:ext cx="8235000" cy="107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Rectangle 1"/>
          <p:cNvSpPr/>
          <p:nvPr/>
        </p:nvSpPr>
        <p:spPr>
          <a:xfrm>
            <a:off x="0" y="0"/>
            <a:ext cx="12187800" cy="227520"/>
          </a:xfrm>
          <a:prstGeom prst="rect">
            <a:avLst/>
          </a:prstGeom>
          <a:solidFill>
            <a:srgbClr val="004c99"/>
          </a:solidFill>
          <a:ln>
            <a:solidFill>
              <a:srgbClr val="004c9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Rectangle 2"/>
          <p:cNvSpPr/>
          <p:nvPr/>
        </p:nvSpPr>
        <p:spPr>
          <a:xfrm>
            <a:off x="0" y="6656760"/>
            <a:ext cx="12187800" cy="200160"/>
          </a:xfrm>
          <a:prstGeom prst="rect">
            <a:avLst/>
          </a:prstGeom>
          <a:solidFill>
            <a:srgbClr val="00285a"/>
          </a:solidFill>
          <a:ln>
            <a:solidFill>
              <a:srgbClr val="00285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Rectangle 3"/>
          <p:cNvSpPr/>
          <p:nvPr/>
        </p:nvSpPr>
        <p:spPr>
          <a:xfrm>
            <a:off x="0" y="228600"/>
            <a:ext cx="136080" cy="639972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04" name="Picture 5" descr="logo_simposio_autalizado copy.png"/>
          <p:cNvPicPr/>
          <p:nvPr/>
        </p:nvPicPr>
        <p:blipFill>
          <a:blip r:embed="rId1"/>
          <a:stretch/>
        </p:blipFill>
        <p:spPr>
          <a:xfrm>
            <a:off x="8940600" y="255960"/>
            <a:ext cx="3178800" cy="2115360"/>
          </a:xfrm>
          <a:prstGeom prst="rect">
            <a:avLst/>
          </a:prstGeom>
          <a:ln w="0">
            <a:noFill/>
          </a:ln>
        </p:spPr>
      </p:pic>
      <p:sp>
        <p:nvSpPr>
          <p:cNvPr id="205" name="TextBox 10"/>
          <p:cNvSpPr/>
          <p:nvPr/>
        </p:nvSpPr>
        <p:spPr>
          <a:xfrm>
            <a:off x="1483920" y="2834640"/>
            <a:ext cx="884772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chemeClr val="dk1"/>
                </a:solidFill>
                <a:latin typeface="Arial"/>
              </a:rPr>
              <a:t>OBRIGADO(A)!</a:t>
            </a:r>
            <a:endParaRPr b="0" lang="pt-BR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Box 11"/>
          <p:cNvSpPr/>
          <p:nvPr/>
        </p:nvSpPr>
        <p:spPr>
          <a:xfrm>
            <a:off x="1618920" y="3657600"/>
            <a:ext cx="84384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chemeClr val="dk1"/>
                </a:solidFill>
                <a:latin typeface="Arial"/>
              </a:rPr>
              <a:t>Perguntas e Discussão</a:t>
            </a:r>
            <a:endParaRPr b="0" lang="pt-BR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7" name="Picture 15" descr="fatec_ra_baixada_santista_baixada_santista_rubens_lara_cor.png"/>
          <p:cNvPicPr/>
          <p:nvPr/>
        </p:nvPicPr>
        <p:blipFill>
          <a:blip r:embed="rId2"/>
          <a:stretch/>
        </p:blipFill>
        <p:spPr>
          <a:xfrm>
            <a:off x="5984640" y="487800"/>
            <a:ext cx="2276280" cy="1198800"/>
          </a:xfrm>
          <a:prstGeom prst="rect">
            <a:avLst/>
          </a:prstGeom>
          <a:ln w="0">
            <a:noFill/>
          </a:ln>
        </p:spPr>
      </p:pic>
      <p:pic>
        <p:nvPicPr>
          <p:cNvPr id="208" name="Graphic 16" descr="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847680" y="378360"/>
            <a:ext cx="1512000" cy="996480"/>
          </a:xfrm>
          <a:prstGeom prst="rect">
            <a:avLst/>
          </a:prstGeom>
          <a:ln w="0">
            <a:noFill/>
          </a:ln>
        </p:spPr>
      </p:pic>
      <p:pic>
        <p:nvPicPr>
          <p:cNvPr id="209" name="Picture 17" descr="LOGO-SP-PT-HORIZONTAL.png"/>
          <p:cNvPicPr/>
          <p:nvPr/>
        </p:nvPicPr>
        <p:blipFill>
          <a:blip r:embed="rId5"/>
          <a:stretch/>
        </p:blipFill>
        <p:spPr>
          <a:xfrm>
            <a:off x="68760" y="127440"/>
            <a:ext cx="3709440" cy="1517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961</TotalTime>
  <Application>LibreOffice/24.2.7.2$Linux_X86_64 LibreOffice_project/420$Build-2</Application>
  <AppVersion>15.0000</AppVersion>
  <Words>253</Words>
  <Paragraphs>49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2026-05-22T09:39:06Z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9</vt:i4>
  </property>
</Properties>
</file>